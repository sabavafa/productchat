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'Every store has the same problem — the right product is in the catalog, but the customer can't find it.' ProductChat is an AI assistant that answers in plain language, but its defining trait is that it is grounded: it can only recommend real products from our catalog. Set the frame: I'll show what it is, how it works, why each decision was made, and where it goes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three pains in order. The third is the crux: businesses want AI's fluency but fear its unreliability. That fear is legitimate — and it's exactly what this design removes. Bridge: 'So the whole system is built around one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whole talk. Say it plainly and pause. 'Know vs read' is the memorable contrast — a fine-tuned model tries to memorise; RAG reads fresh every time. Everything technical that follows is just how we make this insight real and enforce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 it's the 'what', the 'how' is next. Emphasise the four traits; each maps to a later defense slide. The REST-API line matters to technical stakeholders: this isn't a one-off widget, it's an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point to stress: change-detection happens BEFORE any download, so the first sync embeds everything, but every sync after is nearly free. This is how we keep the catalog fresh without a big recurring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pattern, live. The highlighted step 4 is the heart of the system — it runs in code, not in the prompt. Tee up the next slide: 'This guardrail is the idea I most want to defend.'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strongest moment — slow down. The distinction that wins the room: a prompt is a request, code is a contract. Anticipate the skeptic: 'But models are getting better at following instructions.' Answer: better isn't guaranteed, and in commerce the cost of one wrong price is a lost customer and a support ticket. We chose a guarantee over a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technical audience: note both stores are swappable by config — SQLite→Postgres, embedded Qdrant→server — same code. For everyone: the separation is a trust decision, not just an engineering one. Prices are facts; the model never touches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defense in one slide. Invite the challenge: 'Ask me why any of these, and here's the answer.' The recurring theme — each choice trades a little engineering effort now for trust, freshness, or cost control later. None of them are arbitrary or trend-driven.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into business voice here. The through-line: better findability is conversion, and trust is retention. The REST-engine point is the strategic one — build the brain once, reuse it everywhere. Close with cost: this doesn't require a big ongoing LLM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Credibility slide. The message: the risk is already retired — this isn't a concept, it's working software you can run in minutes. The 'graceful without a key' detail signals engineering maturity: failure modes were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economics in their real catalog — 842 products. Headline: at this size the AI is almost free (~2 cents to index the whole catalog, ~1 cent per chat) and the vector data is tiny (~3–4 MB), so no expensive infrastructure is required. The honest part: the cost that matters is a few weeks of engineering to harden it, plus light upkeep and a GDPR review. Frame it as tens-to-low-hundreds of euros a month to operate versus a one-time engineering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Showing the roadmap is a confidence move, not an admission. It says: I know exactly what's prototype and what's product, and I've sequenced it. Phase 0 is the honest one — call out that today the admin API is open and the key is exposed; that's the first thing we close. Sequencing logic: you can't optimise what you can't measure (P1 before P2), and you shouldn't personalise a system you can't measure (P4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Pre-empt the room's skepticism by voicing it yourself — it reads as confidence. Deliver each answer crisply and move on; don't over-explain. If someone raises a fifth objection, that's a win: it means they're engaged. The meta-point: every objection has a designed answer, because the doubts were the design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thesis to close the loop — 'read before it speaks.' Restate the four one-word promises and stop. Then open for questions with: 'I built this to survive exactly the questions you're about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p:bgPr>
    </p:bg>
    <p:spTree>
      <p:nvGrpSpPr>
        <p:cNvPr id="1" name=""/>
        <p:cNvGrpSpPr/>
        <p:nvPr/>
      </p:nvGrpSpPr>
      <p:grpSpPr>
        <a:xfrm>
          <a:off x="0" y="0"/>
          <a:ext cx="0" cy="0"/>
          <a:chOff x="0" y="0"/>
          <a:chExt cx="0" cy="0"/>
        </a:xfrm>
      </p:grpSpPr>
      <p:sp>
        <p:nvSpPr>
          <p:cNvPr id="2" name="Shape 0"/>
          <p:cNvSpPr/>
          <p:nvPr/>
        </p:nvSpPr>
        <p:spPr>
          <a:xfrm flipV="1">
            <a:off x="8366760" y="868680"/>
            <a:ext cx="1371600" cy="365760"/>
          </a:xfrm>
          <a:prstGeom prst="line">
            <a:avLst/>
          </a:prstGeom>
          <a:noFill/>
          <a:ln w="9525">
            <a:solidFill>
              <a:srgbClr val="9AA4B2">
                <a:alpha val="38000"/>
              </a:srgbClr>
            </a:solidFill>
            <a:prstDash val="solid"/>
          </a:ln>
        </p:spPr>
      </p:sp>
      <p:sp>
        <p:nvSpPr>
          <p:cNvPr id="3" name="Shape 1"/>
          <p:cNvSpPr/>
          <p:nvPr/>
        </p:nvSpPr>
        <p:spPr>
          <a:xfrm>
            <a:off x="9738360" y="868680"/>
            <a:ext cx="1188720" cy="731520"/>
          </a:xfrm>
          <a:prstGeom prst="line">
            <a:avLst/>
          </a:prstGeom>
          <a:noFill/>
          <a:ln w="9525">
            <a:solidFill>
              <a:srgbClr val="9AA4B2">
                <a:alpha val="38000"/>
              </a:srgbClr>
            </a:solidFill>
            <a:prstDash val="solid"/>
          </a:ln>
        </p:spPr>
      </p:sp>
      <p:sp>
        <p:nvSpPr>
          <p:cNvPr id="4" name="Shape 2"/>
          <p:cNvSpPr/>
          <p:nvPr/>
        </p:nvSpPr>
        <p:spPr>
          <a:xfrm flipV="1">
            <a:off x="9281160" y="868680"/>
            <a:ext cx="457200" cy="1371600"/>
          </a:xfrm>
          <a:prstGeom prst="line">
            <a:avLst/>
          </a:prstGeom>
          <a:noFill/>
          <a:ln w="9525">
            <a:solidFill>
              <a:srgbClr val="9AA4B2">
                <a:alpha val="38000"/>
              </a:srgbClr>
            </a:solidFill>
            <a:prstDash val="solid"/>
          </a:ln>
        </p:spPr>
      </p:sp>
      <p:sp>
        <p:nvSpPr>
          <p:cNvPr id="5" name="Shape 3"/>
          <p:cNvSpPr/>
          <p:nvPr/>
        </p:nvSpPr>
        <p:spPr>
          <a:xfrm>
            <a:off x="9281160" y="2240280"/>
            <a:ext cx="822960" cy="1097280"/>
          </a:xfrm>
          <a:prstGeom prst="line">
            <a:avLst/>
          </a:prstGeom>
          <a:noFill/>
          <a:ln w="9525">
            <a:solidFill>
              <a:srgbClr val="9AA4B2">
                <a:alpha val="38000"/>
              </a:srgbClr>
            </a:solidFill>
            <a:prstDash val="solid"/>
          </a:ln>
        </p:spPr>
      </p:sp>
      <p:sp>
        <p:nvSpPr>
          <p:cNvPr id="6" name="Shape 4"/>
          <p:cNvSpPr/>
          <p:nvPr/>
        </p:nvSpPr>
        <p:spPr>
          <a:xfrm>
            <a:off x="10927080" y="1600200"/>
            <a:ext cx="457200" cy="1188720"/>
          </a:xfrm>
          <a:prstGeom prst="line">
            <a:avLst/>
          </a:prstGeom>
          <a:noFill/>
          <a:ln w="9525">
            <a:solidFill>
              <a:srgbClr val="9AA4B2">
                <a:alpha val="38000"/>
              </a:srgbClr>
            </a:solidFill>
            <a:prstDash val="solid"/>
          </a:ln>
        </p:spPr>
      </p:sp>
      <p:sp>
        <p:nvSpPr>
          <p:cNvPr id="7" name="Shape 5"/>
          <p:cNvSpPr/>
          <p:nvPr/>
        </p:nvSpPr>
        <p:spPr>
          <a:xfrm>
            <a:off x="11384280" y="2788920"/>
            <a:ext cx="137160" cy="1325880"/>
          </a:xfrm>
          <a:prstGeom prst="line">
            <a:avLst/>
          </a:prstGeom>
          <a:noFill/>
          <a:ln w="9525">
            <a:solidFill>
              <a:srgbClr val="9AA4B2">
                <a:alpha val="38000"/>
              </a:srgbClr>
            </a:solidFill>
            <a:prstDash val="solid"/>
          </a:ln>
        </p:spPr>
      </p:sp>
      <p:sp>
        <p:nvSpPr>
          <p:cNvPr id="8" name="Shape 6"/>
          <p:cNvSpPr/>
          <p:nvPr/>
        </p:nvSpPr>
        <p:spPr>
          <a:xfrm>
            <a:off x="10104120" y="3337560"/>
            <a:ext cx="1417320" cy="777240"/>
          </a:xfrm>
          <a:prstGeom prst="line">
            <a:avLst/>
          </a:prstGeom>
          <a:noFill/>
          <a:ln w="9525">
            <a:solidFill>
              <a:srgbClr val="9AA4B2">
                <a:alpha val="38000"/>
              </a:srgbClr>
            </a:solidFill>
            <a:prstDash val="solid"/>
          </a:ln>
        </p:spPr>
      </p:sp>
      <p:sp>
        <p:nvSpPr>
          <p:cNvPr id="9" name="Shape 7"/>
          <p:cNvSpPr/>
          <p:nvPr/>
        </p:nvSpPr>
        <p:spPr>
          <a:xfrm flipV="1">
            <a:off x="9921240" y="3337560"/>
            <a:ext cx="182880" cy="1417320"/>
          </a:xfrm>
          <a:prstGeom prst="line">
            <a:avLst/>
          </a:prstGeom>
          <a:noFill/>
          <a:ln w="9525">
            <a:solidFill>
              <a:srgbClr val="9AA4B2">
                <a:alpha val="38000"/>
              </a:srgbClr>
            </a:solidFill>
            <a:prstDash val="solid"/>
          </a:ln>
        </p:spPr>
      </p:sp>
      <p:sp>
        <p:nvSpPr>
          <p:cNvPr id="10" name="Shape 8"/>
          <p:cNvSpPr/>
          <p:nvPr/>
        </p:nvSpPr>
        <p:spPr>
          <a:xfrm>
            <a:off x="8732520" y="4206240"/>
            <a:ext cx="1188720" cy="548640"/>
          </a:xfrm>
          <a:prstGeom prst="line">
            <a:avLst/>
          </a:prstGeom>
          <a:noFill/>
          <a:ln w="9525">
            <a:solidFill>
              <a:srgbClr val="9AA4B2">
                <a:alpha val="38000"/>
              </a:srgbClr>
            </a:solidFill>
            <a:prstDash val="solid"/>
          </a:ln>
        </p:spPr>
      </p:sp>
      <p:sp>
        <p:nvSpPr>
          <p:cNvPr id="11" name="Shape 9"/>
          <p:cNvSpPr/>
          <p:nvPr/>
        </p:nvSpPr>
        <p:spPr>
          <a:xfrm>
            <a:off x="9921240" y="4754880"/>
            <a:ext cx="1097280" cy="411480"/>
          </a:xfrm>
          <a:prstGeom prst="line">
            <a:avLst/>
          </a:prstGeom>
          <a:noFill/>
          <a:ln w="9525">
            <a:solidFill>
              <a:srgbClr val="9AA4B2">
                <a:alpha val="38000"/>
              </a:srgbClr>
            </a:solidFill>
            <a:prstDash val="solid"/>
          </a:ln>
        </p:spPr>
      </p:sp>
      <p:sp>
        <p:nvSpPr>
          <p:cNvPr id="12" name="Shape 10"/>
          <p:cNvSpPr/>
          <p:nvPr/>
        </p:nvSpPr>
        <p:spPr>
          <a:xfrm>
            <a:off x="8229600" y="2971800"/>
            <a:ext cx="502920" cy="1234440"/>
          </a:xfrm>
          <a:prstGeom prst="line">
            <a:avLst/>
          </a:prstGeom>
          <a:noFill/>
          <a:ln w="9525">
            <a:solidFill>
              <a:srgbClr val="9AA4B2">
                <a:alpha val="38000"/>
              </a:srgbClr>
            </a:solidFill>
            <a:prstDash val="solid"/>
          </a:ln>
        </p:spPr>
      </p:sp>
      <p:sp>
        <p:nvSpPr>
          <p:cNvPr id="13" name="Shape 11"/>
          <p:cNvSpPr/>
          <p:nvPr/>
        </p:nvSpPr>
        <p:spPr>
          <a:xfrm flipV="1">
            <a:off x="8549640" y="4754880"/>
            <a:ext cx="1371600" cy="731520"/>
          </a:xfrm>
          <a:prstGeom prst="line">
            <a:avLst/>
          </a:prstGeom>
          <a:noFill/>
          <a:ln w="9525">
            <a:solidFill>
              <a:srgbClr val="9AA4B2">
                <a:alpha val="38000"/>
              </a:srgbClr>
            </a:solidFill>
            <a:prstDash val="solid"/>
          </a:ln>
        </p:spPr>
      </p:sp>
      <p:sp>
        <p:nvSpPr>
          <p:cNvPr id="14" name="Shape 12"/>
          <p:cNvSpPr/>
          <p:nvPr/>
        </p:nvSpPr>
        <p:spPr>
          <a:xfrm>
            <a:off x="8298180" y="1165860"/>
            <a:ext cx="137160" cy="137160"/>
          </a:xfrm>
          <a:prstGeom prst="ellipse">
            <a:avLst/>
          </a:prstGeom>
          <a:solidFill>
            <a:srgbClr val="E4A64C">
              <a:alpha val="65000"/>
            </a:srgbClr>
          </a:solidFill>
          <a:ln/>
        </p:spPr>
      </p:sp>
      <p:sp>
        <p:nvSpPr>
          <p:cNvPr id="15" name="Shape 13"/>
          <p:cNvSpPr/>
          <p:nvPr/>
        </p:nvSpPr>
        <p:spPr>
          <a:xfrm>
            <a:off x="9688068" y="818388"/>
            <a:ext cx="100584" cy="100584"/>
          </a:xfrm>
          <a:prstGeom prst="ellipse">
            <a:avLst/>
          </a:prstGeom>
          <a:solidFill>
            <a:srgbClr val="9AA4B2">
              <a:alpha val="50000"/>
            </a:srgbClr>
          </a:solidFill>
          <a:ln/>
        </p:spPr>
      </p:sp>
      <p:sp>
        <p:nvSpPr>
          <p:cNvPr id="16" name="Shape 14"/>
          <p:cNvSpPr/>
          <p:nvPr/>
        </p:nvSpPr>
        <p:spPr>
          <a:xfrm>
            <a:off x="10876788" y="1549908"/>
            <a:ext cx="100584" cy="100584"/>
          </a:xfrm>
          <a:prstGeom prst="ellipse">
            <a:avLst/>
          </a:prstGeom>
          <a:solidFill>
            <a:srgbClr val="9AA4B2">
              <a:alpha val="50000"/>
            </a:srgbClr>
          </a:solidFill>
          <a:ln/>
        </p:spPr>
      </p:sp>
      <p:sp>
        <p:nvSpPr>
          <p:cNvPr id="17" name="Shape 15"/>
          <p:cNvSpPr/>
          <p:nvPr/>
        </p:nvSpPr>
        <p:spPr>
          <a:xfrm>
            <a:off x="9212580" y="2171700"/>
            <a:ext cx="137160" cy="137160"/>
          </a:xfrm>
          <a:prstGeom prst="ellipse">
            <a:avLst/>
          </a:prstGeom>
          <a:solidFill>
            <a:srgbClr val="E4A64C">
              <a:alpha val="65000"/>
            </a:srgbClr>
          </a:solidFill>
          <a:ln/>
        </p:spPr>
      </p:sp>
      <p:sp>
        <p:nvSpPr>
          <p:cNvPr id="18" name="Shape 16"/>
          <p:cNvSpPr/>
          <p:nvPr/>
        </p:nvSpPr>
        <p:spPr>
          <a:xfrm>
            <a:off x="11333988" y="2738628"/>
            <a:ext cx="100584" cy="100584"/>
          </a:xfrm>
          <a:prstGeom prst="ellipse">
            <a:avLst/>
          </a:prstGeom>
          <a:solidFill>
            <a:srgbClr val="9AA4B2">
              <a:alpha val="50000"/>
            </a:srgbClr>
          </a:solidFill>
          <a:ln/>
        </p:spPr>
      </p:sp>
      <p:sp>
        <p:nvSpPr>
          <p:cNvPr id="19" name="Shape 17"/>
          <p:cNvSpPr/>
          <p:nvPr/>
        </p:nvSpPr>
        <p:spPr>
          <a:xfrm>
            <a:off x="8179308" y="2921508"/>
            <a:ext cx="100584" cy="100584"/>
          </a:xfrm>
          <a:prstGeom prst="ellipse">
            <a:avLst/>
          </a:prstGeom>
          <a:solidFill>
            <a:srgbClr val="9AA4B2">
              <a:alpha val="50000"/>
            </a:srgbClr>
          </a:solidFill>
          <a:ln/>
        </p:spPr>
      </p:sp>
      <p:sp>
        <p:nvSpPr>
          <p:cNvPr id="20" name="Shape 18"/>
          <p:cNvSpPr/>
          <p:nvPr/>
        </p:nvSpPr>
        <p:spPr>
          <a:xfrm>
            <a:off x="10035540" y="3268980"/>
            <a:ext cx="137160" cy="137160"/>
          </a:xfrm>
          <a:prstGeom prst="ellipse">
            <a:avLst/>
          </a:prstGeom>
          <a:solidFill>
            <a:srgbClr val="E4A64C">
              <a:alpha val="65000"/>
            </a:srgbClr>
          </a:solidFill>
          <a:ln/>
        </p:spPr>
      </p:sp>
      <p:sp>
        <p:nvSpPr>
          <p:cNvPr id="21" name="Shape 19"/>
          <p:cNvSpPr/>
          <p:nvPr/>
        </p:nvSpPr>
        <p:spPr>
          <a:xfrm>
            <a:off x="11471148" y="4064508"/>
            <a:ext cx="100584" cy="100584"/>
          </a:xfrm>
          <a:prstGeom prst="ellipse">
            <a:avLst/>
          </a:prstGeom>
          <a:solidFill>
            <a:srgbClr val="9AA4B2">
              <a:alpha val="50000"/>
            </a:srgbClr>
          </a:solidFill>
          <a:ln/>
        </p:spPr>
      </p:sp>
      <p:sp>
        <p:nvSpPr>
          <p:cNvPr id="22" name="Shape 20"/>
          <p:cNvSpPr/>
          <p:nvPr/>
        </p:nvSpPr>
        <p:spPr>
          <a:xfrm>
            <a:off x="8682228" y="4155948"/>
            <a:ext cx="100584" cy="100584"/>
          </a:xfrm>
          <a:prstGeom prst="ellipse">
            <a:avLst/>
          </a:prstGeom>
          <a:solidFill>
            <a:srgbClr val="9AA4B2">
              <a:alpha val="50000"/>
            </a:srgbClr>
          </a:solidFill>
          <a:ln/>
        </p:spPr>
      </p:sp>
      <p:sp>
        <p:nvSpPr>
          <p:cNvPr id="23" name="Shape 21"/>
          <p:cNvSpPr/>
          <p:nvPr/>
        </p:nvSpPr>
        <p:spPr>
          <a:xfrm>
            <a:off x="9852660" y="4686300"/>
            <a:ext cx="137160" cy="137160"/>
          </a:xfrm>
          <a:prstGeom prst="ellipse">
            <a:avLst/>
          </a:prstGeom>
          <a:solidFill>
            <a:srgbClr val="E4A64C">
              <a:alpha val="65000"/>
            </a:srgbClr>
          </a:solidFill>
          <a:ln/>
        </p:spPr>
      </p:sp>
      <p:sp>
        <p:nvSpPr>
          <p:cNvPr id="24" name="Shape 22"/>
          <p:cNvSpPr/>
          <p:nvPr/>
        </p:nvSpPr>
        <p:spPr>
          <a:xfrm>
            <a:off x="10968228" y="5116068"/>
            <a:ext cx="100584" cy="100584"/>
          </a:xfrm>
          <a:prstGeom prst="ellipse">
            <a:avLst/>
          </a:prstGeom>
          <a:solidFill>
            <a:srgbClr val="9AA4B2">
              <a:alpha val="50000"/>
            </a:srgbClr>
          </a:solidFill>
          <a:ln/>
        </p:spPr>
      </p:sp>
      <p:sp>
        <p:nvSpPr>
          <p:cNvPr id="25" name="Shape 23"/>
          <p:cNvSpPr/>
          <p:nvPr/>
        </p:nvSpPr>
        <p:spPr>
          <a:xfrm>
            <a:off x="8499348" y="5436108"/>
            <a:ext cx="100584" cy="100584"/>
          </a:xfrm>
          <a:prstGeom prst="ellipse">
            <a:avLst/>
          </a:prstGeom>
          <a:solidFill>
            <a:srgbClr val="9AA4B2">
              <a:alpha val="50000"/>
            </a:srgbClr>
          </a:solidFill>
          <a:ln/>
        </p:spPr>
      </p:sp>
      <p:sp>
        <p:nvSpPr>
          <p:cNvPr id="26" name="Text 24"/>
          <p:cNvSpPr/>
          <p:nvPr/>
        </p:nvSpPr>
        <p:spPr>
          <a:xfrm>
            <a:off x="640080" y="96012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AI PRODUCT ASSISTANT · RETRIEVAL-AUGMENTED GENERATION</a:t>
            </a:r>
            <a:endParaRPr lang="en-US" sz="1150" dirty="0"/>
          </a:p>
        </p:txBody>
      </p:sp>
      <p:sp>
        <p:nvSpPr>
          <p:cNvPr id="27" name="Text 25"/>
          <p:cNvSpPr/>
          <p:nvPr/>
        </p:nvSpPr>
        <p:spPr>
          <a:xfrm>
            <a:off x="640080" y="1371600"/>
            <a:ext cx="8229600" cy="1280160"/>
          </a:xfrm>
          <a:prstGeom prst="rect">
            <a:avLst/>
          </a:prstGeom>
          <a:noFill/>
          <a:ln/>
        </p:spPr>
        <p:txBody>
          <a:bodyPr wrap="square" lIns="0" tIns="0" rIns="0" bIns="0" rtlCol="0" anchor="ctr"/>
          <a:lstStyle/>
          <a:p>
            <a:pPr indent="0" marL="0">
              <a:buNone/>
            </a:pPr>
            <a:r>
              <a:rPr lang="en-US" sz="6400" b="1" spc="100" kern="0" dirty="0">
                <a:solidFill>
                  <a:srgbClr val="FFFFFF"/>
                </a:solidFill>
                <a:latin typeface="Arial" pitchFamily="34" charset="0"/>
                <a:ea typeface="Arial" pitchFamily="34" charset="-122"/>
                <a:cs typeface="Arial" pitchFamily="34" charset="-120"/>
              </a:rPr>
              <a:t>ProductChat</a:t>
            </a:r>
            <a:endParaRPr lang="en-US" sz="6400" dirty="0"/>
          </a:p>
        </p:txBody>
      </p:sp>
      <p:sp>
        <p:nvSpPr>
          <p:cNvPr id="28" name="Text 26"/>
          <p:cNvSpPr/>
          <p:nvPr/>
        </p:nvSpPr>
        <p:spPr>
          <a:xfrm>
            <a:off x="640080" y="2697480"/>
            <a:ext cx="8412480" cy="640080"/>
          </a:xfrm>
          <a:prstGeom prst="rect">
            <a:avLst/>
          </a:prstGeom>
          <a:noFill/>
          <a:ln/>
        </p:spPr>
        <p:txBody>
          <a:bodyPr wrap="square" lIns="0" tIns="0" rIns="0" bIns="0" rtlCol="0" anchor="ctr"/>
          <a:lstStyle/>
          <a:p>
            <a:pPr indent="0" marL="0">
              <a:buNone/>
            </a:pPr>
            <a:r>
              <a:rPr lang="en-US" sz="2400" i="1" dirty="0">
                <a:solidFill>
                  <a:srgbClr val="E4A64C"/>
                </a:solidFill>
                <a:latin typeface="Arial" pitchFamily="34" charset="0"/>
                <a:ea typeface="Arial" pitchFamily="34" charset="-122"/>
                <a:cs typeface="Arial" pitchFamily="34" charset="-120"/>
              </a:rPr>
              <a:t>The shopping assistant that can't make things up.</a:t>
            </a:r>
            <a:endParaRPr lang="en-US" sz="2400" dirty="0"/>
          </a:p>
        </p:txBody>
      </p:sp>
      <p:sp>
        <p:nvSpPr>
          <p:cNvPr id="29" name="Text 27"/>
          <p:cNvSpPr/>
          <p:nvPr/>
        </p:nvSpPr>
        <p:spPr>
          <a:xfrm>
            <a:off x="640080" y="3520440"/>
            <a:ext cx="7680960" cy="1005840"/>
          </a:xfrm>
          <a:prstGeom prst="rect">
            <a:avLst/>
          </a:prstGeom>
          <a:noFill/>
          <a:ln/>
        </p:spPr>
        <p:txBody>
          <a:bodyPr wrap="square" lIns="0" tIns="0" rIns="0" bIns="0" rtlCol="0" anchor="ctr"/>
          <a:lstStyle/>
          <a:p>
            <a:pPr indent="0" marL="0">
              <a:lnSpc>
                <a:spcPct val="115000"/>
              </a:lnSpc>
              <a:buNone/>
            </a:pPr>
            <a:r>
              <a:rPr lang="en-US" sz="1600" dirty="0">
                <a:solidFill>
                  <a:srgbClr val="C7CED8"/>
                </a:solidFill>
                <a:latin typeface="Calibri" pitchFamily="34" charset="0"/>
                <a:ea typeface="Calibri" pitchFamily="34" charset="-122"/>
                <a:cs typeface="Calibri" pitchFamily="34" charset="-120"/>
              </a:rPr>
              <a:t>Natural-language product recommendations, grounded in your real catalog — so every answer points to a product that actually exists, at the price you actually charge.</a:t>
            </a:r>
            <a:endParaRPr lang="en-US" sz="1600" dirty="0"/>
          </a:p>
        </p:txBody>
      </p:sp>
      <p:sp>
        <p:nvSpPr>
          <p:cNvPr id="30" name="Shape 28"/>
          <p:cNvSpPr/>
          <p:nvPr/>
        </p:nvSpPr>
        <p:spPr>
          <a:xfrm>
            <a:off x="640080" y="4892040"/>
            <a:ext cx="2194560" cy="0"/>
          </a:xfrm>
          <a:prstGeom prst="line">
            <a:avLst/>
          </a:prstGeom>
          <a:noFill/>
          <a:ln w="25400">
            <a:solidFill>
              <a:srgbClr val="E4A64C"/>
            </a:solidFill>
            <a:prstDash val="solid"/>
          </a:ln>
        </p:spPr>
      </p:sp>
      <p:sp>
        <p:nvSpPr>
          <p:cNvPr id="31" name="Text 29"/>
          <p:cNvSpPr/>
          <p:nvPr/>
        </p:nvSpPr>
        <p:spPr>
          <a:xfrm>
            <a:off x="640080" y="5120640"/>
            <a:ext cx="8229600" cy="365760"/>
          </a:xfrm>
          <a:prstGeom prst="rect">
            <a:avLst/>
          </a:prstGeom>
          <a:noFill/>
          <a:ln/>
        </p:spPr>
        <p:txBody>
          <a:bodyPr wrap="square" lIns="0" tIns="0" rIns="0" bIns="0" rtlCol="0" anchor="ctr"/>
          <a:lstStyle/>
          <a:p>
            <a:pPr indent="0" marL="0">
              <a:buNone/>
            </a:pPr>
            <a:r>
              <a:rPr lang="en-US" sz="1300" dirty="0">
                <a:solidFill>
                  <a:srgbClr val="9AA4B2"/>
                </a:solidFill>
                <a:latin typeface="Calibri" pitchFamily="34" charset="0"/>
                <a:ea typeface="Calibri" pitchFamily="34" charset="-122"/>
                <a:cs typeface="Calibri" pitchFamily="34" charset="-120"/>
              </a:rPr>
              <a:t>Wired to a live storefront:  </a:t>
            </a:r>
            <a:pPr indent="0" marL="0">
              <a:buNone/>
            </a:pPr>
            <a:r>
              <a:rPr lang="en-US" sz="1300" dirty="0">
                <a:solidFill>
                  <a:srgbClr val="FFFFFF"/>
                </a:solidFill>
                <a:latin typeface="Courier New" pitchFamily="34" charset="0"/>
                <a:ea typeface="Courier New" pitchFamily="34" charset="-122"/>
                <a:cs typeface="Courier New" pitchFamily="34" charset="-120"/>
              </a:rPr>
              <a:t>edelstahl-tuerklingel.de</a:t>
            </a:r>
            <a:endParaRPr lang="en-US" sz="1300" dirty="0"/>
          </a:p>
        </p:txBody>
      </p:sp>
      <p:sp>
        <p:nvSpPr>
          <p:cNvPr id="32" name="Text 30"/>
          <p:cNvSpPr/>
          <p:nvPr/>
        </p:nvSpPr>
        <p:spPr>
          <a:xfrm>
            <a:off x="640080" y="6172200"/>
            <a:ext cx="8229600" cy="274320"/>
          </a:xfrm>
          <a:prstGeom prst="rect">
            <a:avLst/>
          </a:prstGeom>
          <a:noFill/>
          <a:ln/>
        </p:spPr>
        <p:txBody>
          <a:bodyPr wrap="square" lIns="0" tIns="0" rIns="0" bIns="0" rtlCol="0" anchor="ctr"/>
          <a:lstStyle/>
          <a:p>
            <a:pPr indent="0" marL="0">
              <a:buNone/>
            </a:pPr>
            <a:r>
              <a:rPr lang="en-US" sz="1050" spc="200" kern="0" dirty="0">
                <a:solidFill>
                  <a:srgbClr val="5B6472"/>
                </a:solidFill>
                <a:latin typeface="Courier New" pitchFamily="34" charset="0"/>
                <a:ea typeface="Courier New" pitchFamily="34" charset="-122"/>
                <a:cs typeface="Courier New" pitchFamily="34" charset="-120"/>
              </a:rPr>
              <a:t>Presentation &amp; design defense · working prototype ·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THE PROBLEM</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400" b="1" dirty="0">
                <a:solidFill>
                  <a:srgbClr val="1A1E26"/>
                </a:solidFill>
                <a:latin typeface="Arial" pitchFamily="34" charset="0"/>
                <a:ea typeface="Arial" pitchFamily="34" charset="-122"/>
                <a:cs typeface="Arial" pitchFamily="34" charset="-120"/>
              </a:rPr>
              <a:t>Finding the right product is still hard.</a:t>
            </a:r>
            <a:endParaRPr lang="en-US" sz="3400" dirty="0"/>
          </a:p>
        </p:txBody>
      </p:sp>
      <p:sp>
        <p:nvSpPr>
          <p:cNvPr id="4" name="Shape 2"/>
          <p:cNvSpPr/>
          <p:nvPr/>
        </p:nvSpPr>
        <p:spPr>
          <a:xfrm>
            <a:off x="640080" y="1965960"/>
            <a:ext cx="3332378" cy="3566160"/>
          </a:xfrm>
          <a:prstGeom prst="roundRect">
            <a:avLst>
              <a:gd name="adj" fmla="val 2744"/>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Shape 3"/>
          <p:cNvSpPr/>
          <p:nvPr/>
        </p:nvSpPr>
        <p:spPr>
          <a:xfrm>
            <a:off x="987552" y="2368296"/>
            <a:ext cx="621792" cy="621792"/>
          </a:xfrm>
          <a:prstGeom prst="ellipse">
            <a:avLst/>
          </a:prstGeom>
          <a:solidFill>
            <a:srgbClr val="E8ECF1"/>
          </a:solidFill>
          <a:ln/>
        </p:spPr>
      </p:sp>
      <p:sp>
        <p:nvSpPr>
          <p:cNvPr id="6" name="Text 4"/>
          <p:cNvSpPr/>
          <p:nvPr/>
        </p:nvSpPr>
        <p:spPr>
          <a:xfrm>
            <a:off x="932688" y="2368296"/>
            <a:ext cx="621792" cy="621792"/>
          </a:xfrm>
          <a:prstGeom prst="rect">
            <a:avLst/>
          </a:prstGeom>
          <a:noFill/>
          <a:ln/>
        </p:spPr>
        <p:txBody>
          <a:bodyPr wrap="square" lIns="0" tIns="0" rIns="0" bIns="0" rtlCol="0" anchor="ctr"/>
          <a:lstStyle/>
          <a:p>
            <a:pPr algn="ctr" indent="0" marL="0">
              <a:buNone/>
            </a:pPr>
            <a:r>
              <a:rPr lang="en-US" sz="1800" b="1" dirty="0">
                <a:solidFill>
                  <a:srgbClr val="B26D14"/>
                </a:solidFill>
                <a:latin typeface="Courier New" pitchFamily="34" charset="0"/>
                <a:ea typeface="Courier New" pitchFamily="34" charset="-122"/>
                <a:cs typeface="Courier New" pitchFamily="34" charset="-120"/>
              </a:rPr>
              <a:t>1</a:t>
            </a:r>
            <a:endParaRPr lang="en-US" sz="1800" dirty="0"/>
          </a:p>
        </p:txBody>
      </p:sp>
      <p:sp>
        <p:nvSpPr>
          <p:cNvPr id="7" name="Text 5"/>
          <p:cNvSpPr/>
          <p:nvPr/>
        </p:nvSpPr>
        <p:spPr>
          <a:xfrm>
            <a:off x="960120" y="3246120"/>
            <a:ext cx="2692298" cy="822960"/>
          </a:xfrm>
          <a:prstGeom prst="rect">
            <a:avLst/>
          </a:prstGeom>
          <a:noFill/>
          <a:ln/>
        </p:spPr>
        <p:txBody>
          <a:bodyPr wrap="square" lIns="0" tIns="0" rIns="0" bIns="0" rtlCol="0" anchor="t"/>
          <a:lstStyle/>
          <a:p>
            <a:pPr indent="0" marL="0">
              <a:buNone/>
            </a:pPr>
            <a:r>
              <a:rPr lang="en-US" sz="1800" b="1" dirty="0">
                <a:solidFill>
                  <a:srgbClr val="1A1E26"/>
                </a:solidFill>
                <a:latin typeface="Arial" pitchFamily="34" charset="0"/>
                <a:ea typeface="Arial" pitchFamily="34" charset="-122"/>
                <a:cs typeface="Arial" pitchFamily="34" charset="-120"/>
              </a:rPr>
              <a:t>Keyword search is brittle</a:t>
            </a:r>
            <a:endParaRPr lang="en-US" sz="1800" dirty="0"/>
          </a:p>
        </p:txBody>
      </p:sp>
      <p:sp>
        <p:nvSpPr>
          <p:cNvPr id="8" name="Text 6"/>
          <p:cNvSpPr/>
          <p:nvPr/>
        </p:nvSpPr>
        <p:spPr>
          <a:xfrm>
            <a:off x="960120" y="4023360"/>
            <a:ext cx="2692298" cy="1325880"/>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Terms like “IP67”, “RAL 7016” or “Funkklingel” must match exactly. Intent — “something I can hear at the gate” — returns nothing.</a:t>
            </a:r>
            <a:endParaRPr lang="en-US" sz="1350" dirty="0"/>
          </a:p>
        </p:txBody>
      </p:sp>
      <p:sp>
        <p:nvSpPr>
          <p:cNvPr id="9" name="Shape 7"/>
          <p:cNvSpPr/>
          <p:nvPr/>
        </p:nvSpPr>
        <p:spPr>
          <a:xfrm>
            <a:off x="4429658" y="1965960"/>
            <a:ext cx="3332378" cy="3566160"/>
          </a:xfrm>
          <a:prstGeom prst="roundRect">
            <a:avLst>
              <a:gd name="adj" fmla="val 2744"/>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0" name="Shape 8"/>
          <p:cNvSpPr/>
          <p:nvPr/>
        </p:nvSpPr>
        <p:spPr>
          <a:xfrm>
            <a:off x="4777130" y="2368296"/>
            <a:ext cx="621792" cy="621792"/>
          </a:xfrm>
          <a:prstGeom prst="ellipse">
            <a:avLst/>
          </a:prstGeom>
          <a:solidFill>
            <a:srgbClr val="E8ECF1"/>
          </a:solidFill>
          <a:ln/>
        </p:spPr>
      </p:sp>
      <p:sp>
        <p:nvSpPr>
          <p:cNvPr id="11" name="Text 9"/>
          <p:cNvSpPr/>
          <p:nvPr/>
        </p:nvSpPr>
        <p:spPr>
          <a:xfrm>
            <a:off x="4722266" y="2368296"/>
            <a:ext cx="621792" cy="621792"/>
          </a:xfrm>
          <a:prstGeom prst="rect">
            <a:avLst/>
          </a:prstGeom>
          <a:noFill/>
          <a:ln/>
        </p:spPr>
        <p:txBody>
          <a:bodyPr wrap="square" lIns="0" tIns="0" rIns="0" bIns="0" rtlCol="0" anchor="ctr"/>
          <a:lstStyle/>
          <a:p>
            <a:pPr algn="ctr" indent="0" marL="0">
              <a:buNone/>
            </a:pPr>
            <a:r>
              <a:rPr lang="en-US" sz="1800" b="1" dirty="0">
                <a:solidFill>
                  <a:srgbClr val="B26D14"/>
                </a:solidFill>
                <a:latin typeface="Courier New" pitchFamily="34" charset="0"/>
                <a:ea typeface="Courier New" pitchFamily="34" charset="-122"/>
                <a:cs typeface="Courier New" pitchFamily="34" charset="-120"/>
              </a:rPr>
              <a:t>2</a:t>
            </a:r>
            <a:endParaRPr lang="en-US" sz="1800" dirty="0"/>
          </a:p>
        </p:txBody>
      </p:sp>
      <p:sp>
        <p:nvSpPr>
          <p:cNvPr id="12" name="Text 10"/>
          <p:cNvSpPr/>
          <p:nvPr/>
        </p:nvSpPr>
        <p:spPr>
          <a:xfrm>
            <a:off x="4749698" y="3246120"/>
            <a:ext cx="2692298" cy="822960"/>
          </a:xfrm>
          <a:prstGeom prst="rect">
            <a:avLst/>
          </a:prstGeom>
          <a:noFill/>
          <a:ln/>
        </p:spPr>
        <p:txBody>
          <a:bodyPr wrap="square" lIns="0" tIns="0" rIns="0" bIns="0" rtlCol="0" anchor="t"/>
          <a:lstStyle/>
          <a:p>
            <a:pPr indent="0" marL="0">
              <a:buNone/>
            </a:pPr>
            <a:r>
              <a:rPr lang="en-US" sz="1800" b="1" dirty="0">
                <a:solidFill>
                  <a:srgbClr val="1A1E26"/>
                </a:solidFill>
                <a:latin typeface="Arial" pitchFamily="34" charset="0"/>
                <a:ea typeface="Arial" pitchFamily="34" charset="-122"/>
                <a:cs typeface="Arial" pitchFamily="34" charset="-120"/>
              </a:rPr>
              <a:t>Shoppers don't speak SKU</a:t>
            </a:r>
            <a:endParaRPr lang="en-US" sz="1800" dirty="0"/>
          </a:p>
        </p:txBody>
      </p:sp>
      <p:sp>
        <p:nvSpPr>
          <p:cNvPr id="13" name="Text 11"/>
          <p:cNvSpPr/>
          <p:nvPr/>
        </p:nvSpPr>
        <p:spPr>
          <a:xfrm>
            <a:off x="4749698" y="4023360"/>
            <a:ext cx="2692298" cy="1325880"/>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Customers describe a need, not a product code. The catalog is organised the way the business thinks, not the way a buyer asks.</a:t>
            </a:r>
            <a:endParaRPr lang="en-US" sz="1350" dirty="0"/>
          </a:p>
        </p:txBody>
      </p:sp>
      <p:sp>
        <p:nvSpPr>
          <p:cNvPr id="14" name="Shape 12"/>
          <p:cNvSpPr/>
          <p:nvPr/>
        </p:nvSpPr>
        <p:spPr>
          <a:xfrm>
            <a:off x="8219237" y="1965960"/>
            <a:ext cx="3332378" cy="3566160"/>
          </a:xfrm>
          <a:prstGeom prst="roundRect">
            <a:avLst>
              <a:gd name="adj" fmla="val 2744"/>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5" name="Shape 13"/>
          <p:cNvSpPr/>
          <p:nvPr/>
        </p:nvSpPr>
        <p:spPr>
          <a:xfrm>
            <a:off x="8566709" y="2368296"/>
            <a:ext cx="621792" cy="621792"/>
          </a:xfrm>
          <a:prstGeom prst="ellipse">
            <a:avLst/>
          </a:prstGeom>
          <a:solidFill>
            <a:srgbClr val="E8ECF1"/>
          </a:solidFill>
          <a:ln/>
        </p:spPr>
      </p:sp>
      <p:sp>
        <p:nvSpPr>
          <p:cNvPr id="16" name="Text 14"/>
          <p:cNvSpPr/>
          <p:nvPr/>
        </p:nvSpPr>
        <p:spPr>
          <a:xfrm>
            <a:off x="8511845" y="2368296"/>
            <a:ext cx="621792" cy="621792"/>
          </a:xfrm>
          <a:prstGeom prst="rect">
            <a:avLst/>
          </a:prstGeom>
          <a:noFill/>
          <a:ln/>
        </p:spPr>
        <p:txBody>
          <a:bodyPr wrap="square" lIns="0" tIns="0" rIns="0" bIns="0" rtlCol="0" anchor="ctr"/>
          <a:lstStyle/>
          <a:p>
            <a:pPr algn="ctr" indent="0" marL="0">
              <a:buNone/>
            </a:pPr>
            <a:r>
              <a:rPr lang="en-US" sz="1800" b="1" dirty="0">
                <a:solidFill>
                  <a:srgbClr val="B26D14"/>
                </a:solidFill>
                <a:latin typeface="Courier New" pitchFamily="34" charset="0"/>
                <a:ea typeface="Courier New" pitchFamily="34" charset="-122"/>
                <a:cs typeface="Courier New" pitchFamily="34" charset="-120"/>
              </a:rPr>
              <a:t>3</a:t>
            </a:r>
            <a:endParaRPr lang="en-US" sz="1800" dirty="0"/>
          </a:p>
        </p:txBody>
      </p:sp>
      <p:sp>
        <p:nvSpPr>
          <p:cNvPr id="17" name="Text 15"/>
          <p:cNvSpPr/>
          <p:nvPr/>
        </p:nvSpPr>
        <p:spPr>
          <a:xfrm>
            <a:off x="8539277" y="3246120"/>
            <a:ext cx="2692298" cy="822960"/>
          </a:xfrm>
          <a:prstGeom prst="rect">
            <a:avLst/>
          </a:prstGeom>
          <a:noFill/>
          <a:ln/>
        </p:spPr>
        <p:txBody>
          <a:bodyPr wrap="square" lIns="0" tIns="0" rIns="0" bIns="0" rtlCol="0" anchor="t"/>
          <a:lstStyle/>
          <a:p>
            <a:pPr indent="0" marL="0">
              <a:buNone/>
            </a:pPr>
            <a:r>
              <a:rPr lang="en-US" sz="1800" b="1" dirty="0">
                <a:solidFill>
                  <a:srgbClr val="1A1E26"/>
                </a:solidFill>
                <a:latin typeface="Arial" pitchFamily="34" charset="0"/>
                <a:ea typeface="Arial" pitchFamily="34" charset="-122"/>
                <a:cs typeface="Arial" pitchFamily="34" charset="-120"/>
              </a:rPr>
              <a:t>Generic AI invents things</a:t>
            </a:r>
            <a:endParaRPr lang="en-US" sz="1800" dirty="0"/>
          </a:p>
        </p:txBody>
      </p:sp>
      <p:sp>
        <p:nvSpPr>
          <p:cNvPr id="18" name="Text 16"/>
          <p:cNvSpPr/>
          <p:nvPr/>
        </p:nvSpPr>
        <p:spPr>
          <a:xfrm>
            <a:off x="8539277" y="4023360"/>
            <a:ext cx="2692298" cy="1325880"/>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Drop in an off-the-shelf chatbot and it will confidently make up products, prices and specs. For a real store, one hallucinated price is a broken promise.</a:t>
            </a:r>
            <a:endParaRPr lang="en-US" sz="1350" dirty="0"/>
          </a:p>
        </p:txBody>
      </p:sp>
      <p:sp>
        <p:nvSpPr>
          <p:cNvPr id="19" name="Text 17"/>
          <p:cNvSpPr/>
          <p:nvPr/>
        </p:nvSpPr>
        <p:spPr>
          <a:xfrm>
            <a:off x="640080" y="5806440"/>
            <a:ext cx="10911535" cy="457200"/>
          </a:xfrm>
          <a:prstGeom prst="rect">
            <a:avLst/>
          </a:prstGeom>
          <a:noFill/>
          <a:ln/>
        </p:spPr>
        <p:txBody>
          <a:bodyPr wrap="square" lIns="0" tIns="0" rIns="0" bIns="0" rtlCol="0" anchor="ctr"/>
          <a:lstStyle/>
          <a:p>
            <a:pPr indent="0" marL="0">
              <a:buNone/>
            </a:pPr>
            <a:r>
              <a:rPr lang="en-US" sz="1500" i="1" dirty="0">
                <a:solidFill>
                  <a:srgbClr val="1A1E26"/>
                </a:solidFill>
                <a:latin typeface="Calibri" pitchFamily="34" charset="0"/>
                <a:ea typeface="Calibri" pitchFamily="34" charset="-122"/>
                <a:cs typeface="Calibri" pitchFamily="34" charset="-120"/>
              </a:rPr>
              <a:t>A store needs an assistant that understands intent — and never lies about the shelf.</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C"/>
        </a:solidFill>
      </p:bgPr>
    </p:bg>
    <p:spTree>
      <p:nvGrpSpPr>
        <p:cNvPr id="1" name=""/>
        <p:cNvGrpSpPr/>
        <p:nvPr/>
      </p:nvGrpSpPr>
      <p:grpSpPr>
        <a:xfrm>
          <a:off x="0" y="0"/>
          <a:ext cx="0" cy="0"/>
          <a:chOff x="0" y="0"/>
          <a:chExt cx="0" cy="0"/>
        </a:xfrm>
      </p:grpSpPr>
      <p:sp>
        <p:nvSpPr>
          <p:cNvPr id="2" name="Shape 0"/>
          <p:cNvSpPr/>
          <p:nvPr/>
        </p:nvSpPr>
        <p:spPr>
          <a:xfrm>
            <a:off x="10799064" y="1289304"/>
            <a:ext cx="164592" cy="164592"/>
          </a:xfrm>
          <a:prstGeom prst="ellipse">
            <a:avLst/>
          </a:prstGeom>
          <a:solidFill>
            <a:srgbClr val="E4A64C">
              <a:alpha val="70000"/>
            </a:srgbClr>
          </a:solidFill>
          <a:ln/>
        </p:spPr>
      </p:sp>
      <p:sp>
        <p:nvSpPr>
          <p:cNvPr id="3" name="Shape 1"/>
          <p:cNvSpPr/>
          <p:nvPr/>
        </p:nvSpPr>
        <p:spPr>
          <a:xfrm>
            <a:off x="11283696" y="1956816"/>
            <a:ext cx="109728" cy="109728"/>
          </a:xfrm>
          <a:prstGeom prst="ellipse">
            <a:avLst/>
          </a:prstGeom>
          <a:solidFill>
            <a:srgbClr val="9AA4B2">
              <a:alpha val="55000"/>
            </a:srgbClr>
          </a:solidFill>
          <a:ln/>
        </p:spPr>
      </p:sp>
      <p:sp>
        <p:nvSpPr>
          <p:cNvPr id="4" name="Shape 2"/>
          <p:cNvSpPr/>
          <p:nvPr/>
        </p:nvSpPr>
        <p:spPr>
          <a:xfrm>
            <a:off x="10378440" y="2331720"/>
            <a:ext cx="91440" cy="91440"/>
          </a:xfrm>
          <a:prstGeom prst="ellipse">
            <a:avLst/>
          </a:prstGeom>
          <a:solidFill>
            <a:srgbClr val="9AA4B2">
              <a:alpha val="50000"/>
            </a:srgbClr>
          </a:solidFill>
          <a:ln/>
        </p:spPr>
      </p:sp>
      <p:sp>
        <p:nvSpPr>
          <p:cNvPr id="5" name="Shape 3"/>
          <p:cNvSpPr/>
          <p:nvPr/>
        </p:nvSpPr>
        <p:spPr>
          <a:xfrm>
            <a:off x="10881360" y="1371600"/>
            <a:ext cx="457200" cy="640080"/>
          </a:xfrm>
          <a:prstGeom prst="line">
            <a:avLst/>
          </a:prstGeom>
          <a:noFill/>
          <a:ln w="9525">
            <a:solidFill>
              <a:srgbClr val="9AA4B2">
                <a:alpha val="38000"/>
              </a:srgbClr>
            </a:solidFill>
            <a:prstDash val="solid"/>
          </a:ln>
        </p:spPr>
      </p:sp>
      <p:sp>
        <p:nvSpPr>
          <p:cNvPr id="6" name="Shape 4"/>
          <p:cNvSpPr/>
          <p:nvPr/>
        </p:nvSpPr>
        <p:spPr>
          <a:xfrm flipV="1">
            <a:off x="10424160" y="1371600"/>
            <a:ext cx="457200" cy="1005840"/>
          </a:xfrm>
          <a:prstGeom prst="line">
            <a:avLst/>
          </a:prstGeom>
          <a:noFill/>
          <a:ln w="9525">
            <a:solidFill>
              <a:srgbClr val="9AA4B2">
                <a:alpha val="38000"/>
              </a:srgbClr>
            </a:solidFill>
            <a:prstDash val="solid"/>
          </a:ln>
        </p:spPr>
      </p:sp>
      <p:sp>
        <p:nvSpPr>
          <p:cNvPr id="7" name="Text 5"/>
          <p:cNvSpPr/>
          <p:nvPr/>
        </p:nvSpPr>
        <p:spPr>
          <a:xfrm>
            <a:off x="640080" y="137160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THE INSIGHT</a:t>
            </a:r>
            <a:endParaRPr lang="en-US" sz="1150" dirty="0"/>
          </a:p>
        </p:txBody>
      </p:sp>
      <p:sp>
        <p:nvSpPr>
          <p:cNvPr id="8" name="Text 6"/>
          <p:cNvSpPr/>
          <p:nvPr/>
        </p:nvSpPr>
        <p:spPr>
          <a:xfrm>
            <a:off x="640080" y="2011680"/>
            <a:ext cx="10424160" cy="192024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Don't ask the AI to </a:t>
            </a:r>
            <a:pPr indent="0" marL="0">
              <a:lnSpc>
                <a:spcPct val="105000"/>
              </a:lnSpc>
              <a:buNone/>
            </a:pPr>
            <a:r>
              <a:rPr lang="en-US" sz="4000" b="1" i="1" dirty="0">
                <a:solidFill>
                  <a:srgbClr val="E4A64C"/>
                </a:solidFill>
                <a:latin typeface="Arial" pitchFamily="34" charset="0"/>
                <a:ea typeface="Arial" pitchFamily="34" charset="-122"/>
                <a:cs typeface="Arial" pitchFamily="34" charset="-120"/>
              </a:rPr>
              <a:t>know</a:t>
            </a:r>
            <a:pPr indent="0" marL="0">
              <a:lnSpc>
                <a:spcPct val="105000"/>
              </a:lnSpc>
              <a:buNone/>
            </a:pPr>
            <a:r>
              <a:rPr lang="en-US" sz="4000" b="1" dirty="0">
                <a:solidFill>
                  <a:srgbClr val="FFFFFF"/>
                </a:solidFill>
                <a:latin typeface="Arial" pitchFamily="34" charset="0"/>
                <a:ea typeface="Arial" pitchFamily="34" charset="-122"/>
                <a:cs typeface="Arial" pitchFamily="34" charset="-120"/>
              </a:rPr>
              <a:t> your catalog.</a:t>
            </a:r>
            <a:pPr indent="0" marL="0">
              <a:lnSpc>
                <a:spcPct val="105000"/>
              </a:lnSpc>
              <a:buNone/>
            </a:pPr>
            <a:endParaRPr lang="en-US" sz="4000" dirty="0"/>
          </a:p>
          <a:p>
            <a:pPr indent="0" marL="0">
              <a:lnSpc>
                <a:spcPct val="105000"/>
              </a:lnSpc>
              <a:buNone/>
            </a:pPr>
            <a:r>
              <a:rPr lang="en-US" sz="4000" b="1" dirty="0">
                <a:solidFill>
                  <a:srgbClr val="FFFFFF"/>
                </a:solidFill>
                <a:latin typeface="Arial" pitchFamily="34" charset="0"/>
                <a:ea typeface="Arial" pitchFamily="34" charset="-122"/>
                <a:cs typeface="Arial" pitchFamily="34" charset="-120"/>
              </a:rPr>
              <a:t>Make it </a:t>
            </a:r>
            <a:endParaRPr lang="en-US" sz="4000" dirty="0"/>
          </a:p>
          <a:p>
            <a:pPr indent="0" marL="0">
              <a:lnSpc>
                <a:spcPct val="105000"/>
              </a:lnSpc>
              <a:buNone/>
            </a:pPr>
            <a:r>
              <a:rPr lang="en-US" sz="4000" b="1" i="1" dirty="0">
                <a:solidFill>
                  <a:srgbClr val="E4A64C"/>
                </a:solidFill>
                <a:latin typeface="Arial" pitchFamily="34" charset="0"/>
                <a:ea typeface="Arial" pitchFamily="34" charset="-122"/>
                <a:cs typeface="Arial" pitchFamily="34" charset="-120"/>
              </a:rPr>
              <a:t>read</a:t>
            </a:r>
            <a:pPr indent="0" marL="0">
              <a:lnSpc>
                <a:spcPct val="105000"/>
              </a:lnSpc>
              <a:buNone/>
            </a:pPr>
            <a:r>
              <a:rPr lang="en-US" sz="4000" b="1" dirty="0">
                <a:solidFill>
                  <a:srgbClr val="FFFFFF"/>
                </a:solidFill>
                <a:latin typeface="Arial" pitchFamily="34" charset="0"/>
                <a:ea typeface="Arial" pitchFamily="34" charset="-122"/>
                <a:cs typeface="Arial" pitchFamily="34" charset="-120"/>
              </a:rPr>
              <a:t> your catalog first.</a:t>
            </a:r>
            <a:endParaRPr lang="en-US" sz="4000" dirty="0"/>
          </a:p>
        </p:txBody>
      </p:sp>
      <p:sp>
        <p:nvSpPr>
          <p:cNvPr id="9" name="Text 7"/>
          <p:cNvSpPr/>
          <p:nvPr/>
        </p:nvSpPr>
        <p:spPr>
          <a:xfrm>
            <a:off x="640080" y="4297680"/>
            <a:ext cx="9692640" cy="1280160"/>
          </a:xfrm>
          <a:prstGeom prst="rect">
            <a:avLst/>
          </a:prstGeom>
          <a:noFill/>
          <a:ln/>
        </p:spPr>
        <p:txBody>
          <a:bodyPr wrap="square" lIns="0" tIns="0" rIns="0" bIns="0" rtlCol="0" anchor="ctr"/>
          <a:lstStyle/>
          <a:p>
            <a:pPr indent="0" marL="0">
              <a:lnSpc>
                <a:spcPct val="120000"/>
              </a:lnSpc>
              <a:buNone/>
            </a:pPr>
            <a:r>
              <a:rPr lang="en-US" sz="1650" dirty="0">
                <a:solidFill>
                  <a:srgbClr val="C7CED8"/>
                </a:solidFill>
                <a:latin typeface="Calibri" pitchFamily="34" charset="0"/>
                <a:ea typeface="Calibri" pitchFamily="34" charset="-122"/>
                <a:cs typeface="Calibri" pitchFamily="34" charset="-120"/>
              </a:rPr>
              <a:t>Retrieve the real products that match the question by meaning — then let the model only choose and explain from what's in front of it. That single reversal is what turns a plausible-sounding chatbot into a trustworthy salesperson.</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WHAT IT IS</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A RAG assistant wired to a live storefront.</a:t>
            </a:r>
            <a:endParaRPr lang="en-US" sz="3200" dirty="0"/>
          </a:p>
        </p:txBody>
      </p:sp>
      <p:sp>
        <p:nvSpPr>
          <p:cNvPr id="4" name="Text 2"/>
          <p:cNvSpPr/>
          <p:nvPr/>
        </p:nvSpPr>
        <p:spPr>
          <a:xfrm>
            <a:off x="640080" y="1828800"/>
            <a:ext cx="5577840" cy="2743200"/>
          </a:xfrm>
          <a:prstGeom prst="rect">
            <a:avLst/>
          </a:prstGeom>
          <a:noFill/>
          <a:ln/>
        </p:spPr>
        <p:txBody>
          <a:bodyPr wrap="square" lIns="0" tIns="0" rIns="0" bIns="0" rtlCol="0" anchor="t"/>
          <a:lstStyle/>
          <a:p>
            <a:pPr indent="0" marL="0">
              <a:lnSpc>
                <a:spcPct val="128000"/>
              </a:lnSpc>
              <a:buNone/>
            </a:pPr>
            <a:r>
              <a:rPr lang="en-US" sz="1600" dirty="0">
                <a:solidFill>
                  <a:srgbClr val="1A1E26"/>
                </a:solidFill>
                <a:latin typeface="Calibri" pitchFamily="34" charset="0"/>
                <a:ea typeface="Calibri" pitchFamily="34" charset="-122"/>
                <a:cs typeface="Calibri" pitchFamily="34" charset="-120"/>
              </a:rPr>
              <a:t>A shopper types a need in plain language. ProductChat finds the closest real products by meaning, and a Mistral model writes a short recommendation — choosing only from what was retrieved and explaining why each fits. Prices and links always come from our own database, never from the model.</a:t>
            </a:r>
            <a:endParaRPr lang="en-US" sz="1600" dirty="0"/>
          </a:p>
        </p:txBody>
      </p:sp>
      <p:sp>
        <p:nvSpPr>
          <p:cNvPr id="5" name="Text 3"/>
          <p:cNvSpPr/>
          <p:nvPr/>
        </p:nvSpPr>
        <p:spPr>
          <a:xfrm>
            <a:off x="640080" y="4709160"/>
            <a:ext cx="5486400" cy="1097280"/>
          </a:xfrm>
          <a:prstGeom prst="rect">
            <a:avLst/>
          </a:prstGeom>
          <a:noFill/>
          <a:ln/>
        </p:spPr>
        <p:txBody>
          <a:bodyPr wrap="square" lIns="0" tIns="0" rIns="0" bIns="0" rtlCol="0" anchor="t"/>
          <a:lstStyle/>
          <a:p>
            <a:pPr indent="0" marL="0">
              <a:lnSpc>
                <a:spcPct val="115000"/>
              </a:lnSpc>
              <a:buNone/>
            </a:pPr>
            <a:r>
              <a:rPr lang="en-US" sz="1350" i="1" dirty="0">
                <a:solidFill>
                  <a:srgbClr val="5B6472"/>
                </a:solidFill>
                <a:latin typeface="Calibri" pitchFamily="34" charset="0"/>
                <a:ea typeface="Calibri" pitchFamily="34" charset="-122"/>
                <a:cs typeface="Calibri" pitchFamily="34" charset="-120"/>
              </a:rPr>
              <a:t>Built as a reusable engine — a clean REST API behind the chat — so the same brain can power any storefront or channel.</a:t>
            </a:r>
            <a:endParaRPr lang="en-US" sz="1350" dirty="0"/>
          </a:p>
        </p:txBody>
      </p:sp>
      <p:sp>
        <p:nvSpPr>
          <p:cNvPr id="6" name="Shape 4"/>
          <p:cNvSpPr/>
          <p:nvPr/>
        </p:nvSpPr>
        <p:spPr>
          <a:xfrm>
            <a:off x="6611112" y="1975104"/>
            <a:ext cx="219456" cy="219456"/>
          </a:xfrm>
          <a:prstGeom prst="ellipse">
            <a:avLst/>
          </a:prstGeom>
          <a:solidFill>
            <a:srgbClr val="B26D14"/>
          </a:solidFill>
          <a:ln/>
        </p:spPr>
      </p:sp>
      <p:sp>
        <p:nvSpPr>
          <p:cNvPr id="7" name="Text 5"/>
          <p:cNvSpPr/>
          <p:nvPr/>
        </p:nvSpPr>
        <p:spPr>
          <a:xfrm>
            <a:off x="6995160" y="1828800"/>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Grounded</a:t>
            </a:r>
            <a:endParaRPr lang="en-US" sz="1650" dirty="0"/>
          </a:p>
        </p:txBody>
      </p:sp>
      <p:sp>
        <p:nvSpPr>
          <p:cNvPr id="8" name="Text 6"/>
          <p:cNvSpPr/>
          <p:nvPr/>
        </p:nvSpPr>
        <p:spPr>
          <a:xfrm>
            <a:off x="6995160" y="2212848"/>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Recommends only products it actually retrieved — no inventions.</a:t>
            </a:r>
            <a:endParaRPr lang="en-US" sz="1300" dirty="0"/>
          </a:p>
        </p:txBody>
      </p:sp>
      <p:sp>
        <p:nvSpPr>
          <p:cNvPr id="9" name="Shape 7"/>
          <p:cNvSpPr/>
          <p:nvPr/>
        </p:nvSpPr>
        <p:spPr>
          <a:xfrm>
            <a:off x="6611112" y="3035808"/>
            <a:ext cx="219456" cy="219456"/>
          </a:xfrm>
          <a:prstGeom prst="ellipse">
            <a:avLst/>
          </a:prstGeom>
          <a:solidFill>
            <a:srgbClr val="B26D14"/>
          </a:solidFill>
          <a:ln/>
        </p:spPr>
      </p:sp>
      <p:sp>
        <p:nvSpPr>
          <p:cNvPr id="10" name="Text 8"/>
          <p:cNvSpPr/>
          <p:nvPr/>
        </p:nvSpPr>
        <p:spPr>
          <a:xfrm>
            <a:off x="6995160" y="2889504"/>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Semantic</a:t>
            </a:r>
            <a:endParaRPr lang="en-US" sz="1650" dirty="0"/>
          </a:p>
        </p:txBody>
      </p:sp>
      <p:sp>
        <p:nvSpPr>
          <p:cNvPr id="11" name="Text 9"/>
          <p:cNvSpPr/>
          <p:nvPr/>
        </p:nvSpPr>
        <p:spPr>
          <a:xfrm>
            <a:off x="6995160" y="3273552"/>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Matches intent and cross-language wording, not exact keywords.</a:t>
            </a:r>
            <a:endParaRPr lang="en-US" sz="1300" dirty="0"/>
          </a:p>
        </p:txBody>
      </p:sp>
      <p:sp>
        <p:nvSpPr>
          <p:cNvPr id="12" name="Shape 10"/>
          <p:cNvSpPr/>
          <p:nvPr/>
        </p:nvSpPr>
        <p:spPr>
          <a:xfrm>
            <a:off x="6611112" y="4096512"/>
            <a:ext cx="219456" cy="219456"/>
          </a:xfrm>
          <a:prstGeom prst="ellipse">
            <a:avLst/>
          </a:prstGeom>
          <a:solidFill>
            <a:srgbClr val="B26D14"/>
          </a:solidFill>
          <a:ln/>
        </p:spPr>
      </p:sp>
      <p:sp>
        <p:nvSpPr>
          <p:cNvPr id="13" name="Text 11"/>
          <p:cNvSpPr/>
          <p:nvPr/>
        </p:nvSpPr>
        <p:spPr>
          <a:xfrm>
            <a:off x="6995160" y="3950208"/>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Self-updating</a:t>
            </a:r>
            <a:endParaRPr lang="en-US" sz="1650" dirty="0"/>
          </a:p>
        </p:txBody>
      </p:sp>
      <p:sp>
        <p:nvSpPr>
          <p:cNvPr id="14" name="Text 12"/>
          <p:cNvSpPr/>
          <p:nvPr/>
        </p:nvSpPr>
        <p:spPr>
          <a:xfrm>
            <a:off x="6995160" y="4334256"/>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A scheduler re-scrapes the catalog and re-indexes only what changed.</a:t>
            </a:r>
            <a:endParaRPr lang="en-US" sz="1300" dirty="0"/>
          </a:p>
        </p:txBody>
      </p:sp>
      <p:sp>
        <p:nvSpPr>
          <p:cNvPr id="15" name="Shape 13"/>
          <p:cNvSpPr/>
          <p:nvPr/>
        </p:nvSpPr>
        <p:spPr>
          <a:xfrm>
            <a:off x="6611112" y="5157216"/>
            <a:ext cx="219456" cy="219456"/>
          </a:xfrm>
          <a:prstGeom prst="ellipse">
            <a:avLst/>
          </a:prstGeom>
          <a:solidFill>
            <a:srgbClr val="B26D14"/>
          </a:solidFill>
          <a:ln/>
        </p:spPr>
      </p:sp>
      <p:sp>
        <p:nvSpPr>
          <p:cNvPr id="16" name="Text 14"/>
          <p:cNvSpPr/>
          <p:nvPr/>
        </p:nvSpPr>
        <p:spPr>
          <a:xfrm>
            <a:off x="6995160" y="5010912"/>
            <a:ext cx="4572000" cy="365760"/>
          </a:xfrm>
          <a:prstGeom prst="rect">
            <a:avLst/>
          </a:prstGeom>
          <a:noFill/>
          <a:ln/>
        </p:spPr>
        <p:txBody>
          <a:bodyPr wrap="square" lIns="0" tIns="0" rIns="0" bIns="0" rtlCol="0" anchor="ctr"/>
          <a:lstStyle/>
          <a:p>
            <a:pPr indent="0" marL="0">
              <a:buNone/>
            </a:pPr>
            <a:r>
              <a:rPr lang="en-US" sz="1650" b="1" dirty="0">
                <a:solidFill>
                  <a:srgbClr val="1A1E26"/>
                </a:solidFill>
                <a:latin typeface="Arial" pitchFamily="34" charset="0"/>
                <a:ea typeface="Arial" pitchFamily="34" charset="-122"/>
                <a:cs typeface="Arial" pitchFamily="34" charset="-120"/>
              </a:rPr>
              <a:t>Transparent</a:t>
            </a:r>
            <a:endParaRPr lang="en-US" sz="1650" dirty="0"/>
          </a:p>
        </p:txBody>
      </p:sp>
      <p:sp>
        <p:nvSpPr>
          <p:cNvPr id="17" name="Text 15"/>
          <p:cNvSpPr/>
          <p:nvPr/>
        </p:nvSpPr>
        <p:spPr>
          <a:xfrm>
            <a:off x="6995160" y="5394960"/>
            <a:ext cx="4572000" cy="548640"/>
          </a:xfrm>
          <a:prstGeom prst="rect">
            <a:avLst/>
          </a:prstGeom>
          <a:noFill/>
          <a:ln/>
        </p:spPr>
        <p:txBody>
          <a:bodyPr wrap="square" lIns="0" tIns="0" rIns="0" bIns="0" rtlCol="0" anchor="t"/>
          <a:lstStyle/>
          <a:p>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Every answer can expose the full retrieval + prompt trace.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HOW IT WORKS — 1 OF 2 · OFFLINE &amp; SCHEDULED</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How it works · building the index</a:t>
            </a:r>
            <a:endParaRPr lang="en-US" sz="3200" dirty="0"/>
          </a:p>
        </p:txBody>
      </p:sp>
      <p:sp>
        <p:nvSpPr>
          <p:cNvPr id="4" name="Shape 2"/>
          <p:cNvSpPr/>
          <p:nvPr/>
        </p:nvSpPr>
        <p:spPr>
          <a:xfrm>
            <a:off x="2023842" y="2514600"/>
            <a:ext cx="1597091" cy="0"/>
          </a:xfrm>
          <a:prstGeom prst="line">
            <a:avLst/>
          </a:prstGeom>
          <a:noFill/>
          <a:ln w="15875">
            <a:solidFill>
              <a:srgbClr val="D7DDE5"/>
            </a:solidFill>
            <a:prstDash val="solid"/>
          </a:ln>
        </p:spPr>
      </p:sp>
      <p:sp>
        <p:nvSpPr>
          <p:cNvPr id="5" name="Shape 3"/>
          <p:cNvSpPr/>
          <p:nvPr/>
        </p:nvSpPr>
        <p:spPr>
          <a:xfrm>
            <a:off x="4206149" y="2514600"/>
            <a:ext cx="1597091" cy="0"/>
          </a:xfrm>
          <a:prstGeom prst="line">
            <a:avLst/>
          </a:prstGeom>
          <a:noFill/>
          <a:ln w="15875">
            <a:solidFill>
              <a:srgbClr val="D7DDE5"/>
            </a:solidFill>
            <a:prstDash val="solid"/>
          </a:ln>
        </p:spPr>
      </p:sp>
      <p:sp>
        <p:nvSpPr>
          <p:cNvPr id="6" name="Shape 4"/>
          <p:cNvSpPr/>
          <p:nvPr/>
        </p:nvSpPr>
        <p:spPr>
          <a:xfrm>
            <a:off x="6388456" y="2514600"/>
            <a:ext cx="1597091" cy="0"/>
          </a:xfrm>
          <a:prstGeom prst="line">
            <a:avLst/>
          </a:prstGeom>
          <a:noFill/>
          <a:ln w="15875">
            <a:solidFill>
              <a:srgbClr val="D7DDE5"/>
            </a:solidFill>
            <a:prstDash val="solid"/>
          </a:ln>
        </p:spPr>
      </p:sp>
      <p:sp>
        <p:nvSpPr>
          <p:cNvPr id="7" name="Shape 5"/>
          <p:cNvSpPr/>
          <p:nvPr/>
        </p:nvSpPr>
        <p:spPr>
          <a:xfrm>
            <a:off x="8570763" y="2514600"/>
            <a:ext cx="1597091" cy="0"/>
          </a:xfrm>
          <a:prstGeom prst="line">
            <a:avLst/>
          </a:prstGeom>
          <a:noFill/>
          <a:ln w="15875">
            <a:solidFill>
              <a:srgbClr val="D7DDE5"/>
            </a:solidFill>
            <a:prstDash val="solid"/>
          </a:ln>
        </p:spPr>
      </p:sp>
      <p:sp>
        <p:nvSpPr>
          <p:cNvPr id="8" name="Shape 6"/>
          <p:cNvSpPr/>
          <p:nvPr/>
        </p:nvSpPr>
        <p:spPr>
          <a:xfrm>
            <a:off x="1438626"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9" name="Text 7"/>
          <p:cNvSpPr/>
          <p:nvPr/>
        </p:nvSpPr>
        <p:spPr>
          <a:xfrm>
            <a:off x="1438626"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1</a:t>
            </a:r>
            <a:endParaRPr lang="en-US" sz="1700" dirty="0"/>
          </a:p>
        </p:txBody>
      </p:sp>
      <p:sp>
        <p:nvSpPr>
          <p:cNvPr id="10" name="Text 8"/>
          <p:cNvSpPr/>
          <p:nvPr/>
        </p:nvSpPr>
        <p:spPr>
          <a:xfrm>
            <a:off x="749808"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Scan</a:t>
            </a:r>
            <a:endParaRPr lang="en-US" sz="1450" dirty="0"/>
          </a:p>
        </p:txBody>
      </p:sp>
      <p:sp>
        <p:nvSpPr>
          <p:cNvPr id="11" name="Text 9"/>
          <p:cNvSpPr/>
          <p:nvPr/>
        </p:nvSpPr>
        <p:spPr>
          <a:xfrm>
            <a:off x="768096"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Read the store sitemap → every product URL with its last-modified date.</a:t>
            </a:r>
            <a:endParaRPr lang="en-US" sz="1150" dirty="0"/>
          </a:p>
        </p:txBody>
      </p:sp>
      <p:sp>
        <p:nvSpPr>
          <p:cNvPr id="12" name="Text 10"/>
          <p:cNvSpPr/>
          <p:nvPr/>
        </p:nvSpPr>
        <p:spPr>
          <a:xfrm>
            <a:off x="768096"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sitemap</a:t>
            </a:r>
            <a:endParaRPr lang="en-US" sz="950" dirty="0"/>
          </a:p>
        </p:txBody>
      </p:sp>
      <p:sp>
        <p:nvSpPr>
          <p:cNvPr id="13" name="Shape 11"/>
          <p:cNvSpPr/>
          <p:nvPr/>
        </p:nvSpPr>
        <p:spPr>
          <a:xfrm>
            <a:off x="3620933"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4" name="Text 12"/>
          <p:cNvSpPr/>
          <p:nvPr/>
        </p:nvSpPr>
        <p:spPr>
          <a:xfrm>
            <a:off x="3620933"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2</a:t>
            </a:r>
            <a:endParaRPr lang="en-US" sz="1700" dirty="0"/>
          </a:p>
        </p:txBody>
      </p:sp>
      <p:sp>
        <p:nvSpPr>
          <p:cNvPr id="15" name="Text 13"/>
          <p:cNvSpPr/>
          <p:nvPr/>
        </p:nvSpPr>
        <p:spPr>
          <a:xfrm>
            <a:off x="2932115"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Detect change</a:t>
            </a:r>
            <a:endParaRPr lang="en-US" sz="1450" dirty="0"/>
          </a:p>
        </p:txBody>
      </p:sp>
      <p:sp>
        <p:nvSpPr>
          <p:cNvPr id="16" name="Text 14"/>
          <p:cNvSpPr/>
          <p:nvPr/>
        </p:nvSpPr>
        <p:spPr>
          <a:xfrm>
            <a:off x="2950403"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Skip a URL before fetching if its date + content hash are unchanged.</a:t>
            </a:r>
            <a:endParaRPr lang="en-US" sz="1150" dirty="0"/>
          </a:p>
        </p:txBody>
      </p:sp>
      <p:sp>
        <p:nvSpPr>
          <p:cNvPr id="17" name="Text 15"/>
          <p:cNvSpPr/>
          <p:nvPr/>
        </p:nvSpPr>
        <p:spPr>
          <a:xfrm>
            <a:off x="2950403"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content hash</a:t>
            </a:r>
            <a:endParaRPr lang="en-US" sz="950" dirty="0"/>
          </a:p>
        </p:txBody>
      </p:sp>
      <p:sp>
        <p:nvSpPr>
          <p:cNvPr id="18" name="Shape 16"/>
          <p:cNvSpPr/>
          <p:nvPr/>
        </p:nvSpPr>
        <p:spPr>
          <a:xfrm>
            <a:off x="5803240"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9" name="Text 17"/>
          <p:cNvSpPr/>
          <p:nvPr/>
        </p:nvSpPr>
        <p:spPr>
          <a:xfrm>
            <a:off x="5803240"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3</a:t>
            </a:r>
            <a:endParaRPr lang="en-US" sz="1700" dirty="0"/>
          </a:p>
        </p:txBody>
      </p:sp>
      <p:sp>
        <p:nvSpPr>
          <p:cNvPr id="20" name="Text 18"/>
          <p:cNvSpPr/>
          <p:nvPr/>
        </p:nvSpPr>
        <p:spPr>
          <a:xfrm>
            <a:off x="5114422"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Parse facts</a:t>
            </a:r>
            <a:endParaRPr lang="en-US" sz="1450" dirty="0"/>
          </a:p>
        </p:txBody>
      </p:sp>
      <p:sp>
        <p:nvSpPr>
          <p:cNvPr id="21" name="Text 19"/>
          <p:cNvSpPr/>
          <p:nvPr/>
        </p:nvSpPr>
        <p:spPr>
          <a:xfrm>
            <a:off x="5132710"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Extract name, price, image, SKU, category from the page's product data.</a:t>
            </a:r>
            <a:endParaRPr lang="en-US" sz="1150" dirty="0"/>
          </a:p>
        </p:txBody>
      </p:sp>
      <p:sp>
        <p:nvSpPr>
          <p:cNvPr id="22" name="Text 20"/>
          <p:cNvSpPr/>
          <p:nvPr/>
        </p:nvSpPr>
        <p:spPr>
          <a:xfrm>
            <a:off x="5132710"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JSON-LD</a:t>
            </a:r>
            <a:endParaRPr lang="en-US" sz="950" dirty="0"/>
          </a:p>
        </p:txBody>
      </p:sp>
      <p:sp>
        <p:nvSpPr>
          <p:cNvPr id="23" name="Shape 21"/>
          <p:cNvSpPr/>
          <p:nvPr/>
        </p:nvSpPr>
        <p:spPr>
          <a:xfrm>
            <a:off x="7985547"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24" name="Text 22"/>
          <p:cNvSpPr/>
          <p:nvPr/>
        </p:nvSpPr>
        <p:spPr>
          <a:xfrm>
            <a:off x="7985547"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4</a:t>
            </a:r>
            <a:endParaRPr lang="en-US" sz="1700" dirty="0"/>
          </a:p>
        </p:txBody>
      </p:sp>
      <p:sp>
        <p:nvSpPr>
          <p:cNvPr id="25" name="Text 23"/>
          <p:cNvSpPr/>
          <p:nvPr/>
        </p:nvSpPr>
        <p:spPr>
          <a:xfrm>
            <a:off x="7296729"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Store truth</a:t>
            </a:r>
            <a:endParaRPr lang="en-US" sz="1450" dirty="0"/>
          </a:p>
        </p:txBody>
      </p:sp>
      <p:sp>
        <p:nvSpPr>
          <p:cNvPr id="26" name="Text 24"/>
          <p:cNvSpPr/>
          <p:nvPr/>
        </p:nvSpPr>
        <p:spPr>
          <a:xfrm>
            <a:off x="7315017"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Upsert facts into the database — the authoritative source of record.</a:t>
            </a:r>
            <a:endParaRPr lang="en-US" sz="1150" dirty="0"/>
          </a:p>
        </p:txBody>
      </p:sp>
      <p:sp>
        <p:nvSpPr>
          <p:cNvPr id="27" name="Text 25"/>
          <p:cNvSpPr/>
          <p:nvPr/>
        </p:nvSpPr>
        <p:spPr>
          <a:xfrm>
            <a:off x="7315017"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SQL</a:t>
            </a:r>
            <a:endParaRPr lang="en-US" sz="950" dirty="0"/>
          </a:p>
        </p:txBody>
      </p:sp>
      <p:sp>
        <p:nvSpPr>
          <p:cNvPr id="28" name="Shape 26"/>
          <p:cNvSpPr/>
          <p:nvPr/>
        </p:nvSpPr>
        <p:spPr>
          <a:xfrm>
            <a:off x="10167854"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29" name="Text 27"/>
          <p:cNvSpPr/>
          <p:nvPr/>
        </p:nvSpPr>
        <p:spPr>
          <a:xfrm>
            <a:off x="10167854"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5</a:t>
            </a:r>
            <a:endParaRPr lang="en-US" sz="1700" dirty="0"/>
          </a:p>
        </p:txBody>
      </p:sp>
      <p:sp>
        <p:nvSpPr>
          <p:cNvPr id="30" name="Text 28"/>
          <p:cNvSpPr/>
          <p:nvPr/>
        </p:nvSpPr>
        <p:spPr>
          <a:xfrm>
            <a:off x="9479036"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Embed &amp; index</a:t>
            </a:r>
            <a:endParaRPr lang="en-US" sz="1450" dirty="0"/>
          </a:p>
        </p:txBody>
      </p:sp>
      <p:sp>
        <p:nvSpPr>
          <p:cNvPr id="31" name="Text 29"/>
          <p:cNvSpPr/>
          <p:nvPr/>
        </p:nvSpPr>
        <p:spPr>
          <a:xfrm>
            <a:off x="9497324"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Turn each product into a 1024-dim meaning vector; store it in Qdrant.</a:t>
            </a:r>
            <a:endParaRPr lang="en-US" sz="1150" dirty="0"/>
          </a:p>
        </p:txBody>
      </p:sp>
      <p:sp>
        <p:nvSpPr>
          <p:cNvPr id="32" name="Text 30"/>
          <p:cNvSpPr/>
          <p:nvPr/>
        </p:nvSpPr>
        <p:spPr>
          <a:xfrm>
            <a:off x="9497324"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mistral-embed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4864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HOW IT WORKS — 2 OF 2 · LIVE, PER MESSAGE</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How it works · answering a question</a:t>
            </a:r>
            <a:endParaRPr lang="en-US" sz="3200" dirty="0"/>
          </a:p>
        </p:txBody>
      </p:sp>
      <p:sp>
        <p:nvSpPr>
          <p:cNvPr id="4" name="Shape 2"/>
          <p:cNvSpPr/>
          <p:nvPr/>
        </p:nvSpPr>
        <p:spPr>
          <a:xfrm>
            <a:off x="2023842" y="2514600"/>
            <a:ext cx="1597091" cy="0"/>
          </a:xfrm>
          <a:prstGeom prst="line">
            <a:avLst/>
          </a:prstGeom>
          <a:noFill/>
          <a:ln w="15875">
            <a:solidFill>
              <a:srgbClr val="D7DDE5"/>
            </a:solidFill>
            <a:prstDash val="solid"/>
          </a:ln>
        </p:spPr>
      </p:sp>
      <p:sp>
        <p:nvSpPr>
          <p:cNvPr id="5" name="Shape 3"/>
          <p:cNvSpPr/>
          <p:nvPr/>
        </p:nvSpPr>
        <p:spPr>
          <a:xfrm>
            <a:off x="4206149" y="2514600"/>
            <a:ext cx="1597091" cy="0"/>
          </a:xfrm>
          <a:prstGeom prst="line">
            <a:avLst/>
          </a:prstGeom>
          <a:noFill/>
          <a:ln w="15875">
            <a:solidFill>
              <a:srgbClr val="D7DDE5"/>
            </a:solidFill>
            <a:prstDash val="solid"/>
          </a:ln>
        </p:spPr>
      </p:sp>
      <p:sp>
        <p:nvSpPr>
          <p:cNvPr id="6" name="Shape 4"/>
          <p:cNvSpPr/>
          <p:nvPr/>
        </p:nvSpPr>
        <p:spPr>
          <a:xfrm>
            <a:off x="6388456" y="2514600"/>
            <a:ext cx="1597091" cy="0"/>
          </a:xfrm>
          <a:prstGeom prst="line">
            <a:avLst/>
          </a:prstGeom>
          <a:noFill/>
          <a:ln w="15875">
            <a:solidFill>
              <a:srgbClr val="D7DDE5"/>
            </a:solidFill>
            <a:prstDash val="solid"/>
          </a:ln>
        </p:spPr>
      </p:sp>
      <p:sp>
        <p:nvSpPr>
          <p:cNvPr id="7" name="Shape 5"/>
          <p:cNvSpPr/>
          <p:nvPr/>
        </p:nvSpPr>
        <p:spPr>
          <a:xfrm>
            <a:off x="8570763" y="2514600"/>
            <a:ext cx="1597091" cy="0"/>
          </a:xfrm>
          <a:prstGeom prst="line">
            <a:avLst/>
          </a:prstGeom>
          <a:noFill/>
          <a:ln w="15875">
            <a:solidFill>
              <a:srgbClr val="D7DDE5"/>
            </a:solidFill>
            <a:prstDash val="solid"/>
          </a:ln>
        </p:spPr>
      </p:sp>
      <p:sp>
        <p:nvSpPr>
          <p:cNvPr id="8" name="Shape 6"/>
          <p:cNvSpPr/>
          <p:nvPr/>
        </p:nvSpPr>
        <p:spPr>
          <a:xfrm>
            <a:off x="1438626"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9" name="Text 7"/>
          <p:cNvSpPr/>
          <p:nvPr/>
        </p:nvSpPr>
        <p:spPr>
          <a:xfrm>
            <a:off x="1438626"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1</a:t>
            </a:r>
            <a:endParaRPr lang="en-US" sz="1700" dirty="0"/>
          </a:p>
        </p:txBody>
      </p:sp>
      <p:sp>
        <p:nvSpPr>
          <p:cNvPr id="10" name="Text 8"/>
          <p:cNvSpPr/>
          <p:nvPr/>
        </p:nvSpPr>
        <p:spPr>
          <a:xfrm>
            <a:off x="749808"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Embed question</a:t>
            </a:r>
            <a:endParaRPr lang="en-US" sz="1450" dirty="0"/>
          </a:p>
        </p:txBody>
      </p:sp>
      <p:sp>
        <p:nvSpPr>
          <p:cNvPr id="11" name="Text 9"/>
          <p:cNvSpPr/>
          <p:nvPr/>
        </p:nvSpPr>
        <p:spPr>
          <a:xfrm>
            <a:off x="768096"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The shopper's message becomes a vector in the same space.</a:t>
            </a:r>
            <a:endParaRPr lang="en-US" sz="1150" dirty="0"/>
          </a:p>
        </p:txBody>
      </p:sp>
      <p:sp>
        <p:nvSpPr>
          <p:cNvPr id="12" name="Text 10"/>
          <p:cNvSpPr/>
          <p:nvPr/>
        </p:nvSpPr>
        <p:spPr>
          <a:xfrm>
            <a:off x="768096"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mistral-embed</a:t>
            </a:r>
            <a:endParaRPr lang="en-US" sz="950" dirty="0"/>
          </a:p>
        </p:txBody>
      </p:sp>
      <p:sp>
        <p:nvSpPr>
          <p:cNvPr id="13" name="Shape 11"/>
          <p:cNvSpPr/>
          <p:nvPr/>
        </p:nvSpPr>
        <p:spPr>
          <a:xfrm>
            <a:off x="3620933"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4" name="Text 12"/>
          <p:cNvSpPr/>
          <p:nvPr/>
        </p:nvSpPr>
        <p:spPr>
          <a:xfrm>
            <a:off x="3620933"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2</a:t>
            </a:r>
            <a:endParaRPr lang="en-US" sz="1700" dirty="0"/>
          </a:p>
        </p:txBody>
      </p:sp>
      <p:sp>
        <p:nvSpPr>
          <p:cNvPr id="15" name="Text 13"/>
          <p:cNvSpPr/>
          <p:nvPr/>
        </p:nvSpPr>
        <p:spPr>
          <a:xfrm>
            <a:off x="2932115"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Vector search</a:t>
            </a:r>
            <a:endParaRPr lang="en-US" sz="1450" dirty="0"/>
          </a:p>
        </p:txBody>
      </p:sp>
      <p:sp>
        <p:nvSpPr>
          <p:cNvPr id="16" name="Text 14"/>
          <p:cNvSpPr/>
          <p:nvPr/>
        </p:nvSpPr>
        <p:spPr>
          <a:xfrm>
            <a:off x="2950403"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Qdrant returns the ~10 nearest products by meaning, not keywords.</a:t>
            </a:r>
            <a:endParaRPr lang="en-US" sz="1150" dirty="0"/>
          </a:p>
        </p:txBody>
      </p:sp>
      <p:sp>
        <p:nvSpPr>
          <p:cNvPr id="17" name="Text 15"/>
          <p:cNvSpPr/>
          <p:nvPr/>
        </p:nvSpPr>
        <p:spPr>
          <a:xfrm>
            <a:off x="2950403"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cosine</a:t>
            </a:r>
            <a:endParaRPr lang="en-US" sz="950" dirty="0"/>
          </a:p>
        </p:txBody>
      </p:sp>
      <p:sp>
        <p:nvSpPr>
          <p:cNvPr id="18" name="Shape 16"/>
          <p:cNvSpPr/>
          <p:nvPr/>
        </p:nvSpPr>
        <p:spPr>
          <a:xfrm>
            <a:off x="5803240"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19" name="Text 17"/>
          <p:cNvSpPr/>
          <p:nvPr/>
        </p:nvSpPr>
        <p:spPr>
          <a:xfrm>
            <a:off x="5803240"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3</a:t>
            </a:r>
            <a:endParaRPr lang="en-US" sz="1700" dirty="0"/>
          </a:p>
        </p:txBody>
      </p:sp>
      <p:sp>
        <p:nvSpPr>
          <p:cNvPr id="20" name="Text 18"/>
          <p:cNvSpPr/>
          <p:nvPr/>
        </p:nvSpPr>
        <p:spPr>
          <a:xfrm>
            <a:off x="5114422"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Ground the model</a:t>
            </a:r>
            <a:endParaRPr lang="en-US" sz="1450" dirty="0"/>
          </a:p>
        </p:txBody>
      </p:sp>
      <p:sp>
        <p:nvSpPr>
          <p:cNvPr id="21" name="Text 19"/>
          <p:cNvSpPr/>
          <p:nvPr/>
        </p:nvSpPr>
        <p:spPr>
          <a:xfrm>
            <a:off x="5132710"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Candidates + strict rules go to the LLM in JSON mode: pick, explain, ask.</a:t>
            </a:r>
            <a:endParaRPr lang="en-US" sz="1150" dirty="0"/>
          </a:p>
        </p:txBody>
      </p:sp>
      <p:sp>
        <p:nvSpPr>
          <p:cNvPr id="22" name="Text 20"/>
          <p:cNvSpPr/>
          <p:nvPr/>
        </p:nvSpPr>
        <p:spPr>
          <a:xfrm>
            <a:off x="5132710"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mistral-large</a:t>
            </a:r>
            <a:endParaRPr lang="en-US" sz="950" dirty="0"/>
          </a:p>
        </p:txBody>
      </p:sp>
      <p:sp>
        <p:nvSpPr>
          <p:cNvPr id="23" name="Shape 21"/>
          <p:cNvSpPr/>
          <p:nvPr/>
        </p:nvSpPr>
        <p:spPr>
          <a:xfrm>
            <a:off x="7985547" y="2221992"/>
            <a:ext cx="585216" cy="585216"/>
          </a:xfrm>
          <a:prstGeom prst="ellipse">
            <a:avLst/>
          </a:prstGeom>
          <a:solidFill>
            <a:srgbClr val="B26D14"/>
          </a:solidFill>
          <a:ln w="19050">
            <a:solidFill>
              <a:srgbClr val="B26D14"/>
            </a:solidFill>
            <a:prstDash val="solid"/>
          </a:ln>
          <a:effectLst>
            <a:outerShdw sx="100000" sy="100000" kx="0" ky="0" algn="bl" rotWithShape="0" blurRad="127000" dist="38100" dir="5400000">
              <a:srgbClr val="1A1E26">
                <a:alpha val="18000"/>
              </a:srgbClr>
            </a:outerShdw>
          </a:effectLst>
        </p:spPr>
      </p:sp>
      <p:sp>
        <p:nvSpPr>
          <p:cNvPr id="24" name="Text 22"/>
          <p:cNvSpPr/>
          <p:nvPr/>
        </p:nvSpPr>
        <p:spPr>
          <a:xfrm>
            <a:off x="7985547" y="2221992"/>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4</a:t>
            </a:r>
            <a:endParaRPr lang="en-US" sz="1700" dirty="0"/>
          </a:p>
        </p:txBody>
      </p:sp>
      <p:sp>
        <p:nvSpPr>
          <p:cNvPr id="25" name="Text 23"/>
          <p:cNvSpPr/>
          <p:nvPr/>
        </p:nvSpPr>
        <p:spPr>
          <a:xfrm>
            <a:off x="7296729" y="3017520"/>
            <a:ext cx="1962851" cy="640080"/>
          </a:xfrm>
          <a:prstGeom prst="rect">
            <a:avLst/>
          </a:prstGeom>
          <a:noFill/>
          <a:ln/>
        </p:spPr>
        <p:txBody>
          <a:bodyPr wrap="square" lIns="0" tIns="0" rIns="0" bIns="0" rtlCol="0" anchor="t"/>
          <a:lstStyle/>
          <a:p>
            <a:pPr algn="ctr" indent="0" marL="0">
              <a:buNone/>
            </a:pPr>
            <a:r>
              <a:rPr lang="en-US" sz="1450" b="1" dirty="0">
                <a:solidFill>
                  <a:srgbClr val="B26D14"/>
                </a:solidFill>
                <a:latin typeface="Arial" pitchFamily="34" charset="0"/>
                <a:ea typeface="Arial" pitchFamily="34" charset="-122"/>
                <a:cs typeface="Arial" pitchFamily="34" charset="-120"/>
              </a:rPr>
              <a:t>Guardrail</a:t>
            </a:r>
            <a:endParaRPr lang="en-US" sz="1450" dirty="0"/>
          </a:p>
        </p:txBody>
      </p:sp>
      <p:sp>
        <p:nvSpPr>
          <p:cNvPr id="26" name="Text 24"/>
          <p:cNvSpPr/>
          <p:nvPr/>
        </p:nvSpPr>
        <p:spPr>
          <a:xfrm>
            <a:off x="7315017"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Any product the model names that wasn't retrieved is dropped.</a:t>
            </a:r>
            <a:endParaRPr lang="en-US" sz="1150" dirty="0"/>
          </a:p>
        </p:txBody>
      </p:sp>
      <p:sp>
        <p:nvSpPr>
          <p:cNvPr id="27" name="Text 25"/>
          <p:cNvSpPr/>
          <p:nvPr/>
        </p:nvSpPr>
        <p:spPr>
          <a:xfrm>
            <a:off x="7315017"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B26D14"/>
                </a:solidFill>
                <a:latin typeface="Courier New" pitchFamily="34" charset="0"/>
                <a:ea typeface="Courier New" pitchFamily="34" charset="-122"/>
                <a:cs typeface="Courier New" pitchFamily="34" charset="-120"/>
              </a:rPr>
              <a:t>enforced</a:t>
            </a:r>
            <a:endParaRPr lang="en-US" sz="950" dirty="0"/>
          </a:p>
        </p:txBody>
      </p:sp>
      <p:sp>
        <p:nvSpPr>
          <p:cNvPr id="28" name="Shape 26"/>
          <p:cNvSpPr/>
          <p:nvPr/>
        </p:nvSpPr>
        <p:spPr>
          <a:xfrm>
            <a:off x="10167854" y="2221992"/>
            <a:ext cx="585216" cy="585216"/>
          </a:xfrm>
          <a:prstGeom prst="ellipse">
            <a:avLst/>
          </a:prstGeom>
          <a:solidFill>
            <a:srgbClr val="FFFFFF"/>
          </a:solidFill>
          <a:ln w="19050">
            <a:solidFill>
              <a:srgbClr val="D7DDE5"/>
            </a:solidFill>
            <a:prstDash val="solid"/>
          </a:ln>
          <a:effectLst>
            <a:outerShdw sx="100000" sy="100000" kx="0" ky="0" algn="bl" rotWithShape="0" blurRad="127000" dist="38100" dir="5400000">
              <a:srgbClr val="1A1E26">
                <a:alpha val="18000"/>
              </a:srgbClr>
            </a:outerShdw>
          </a:effectLst>
        </p:spPr>
      </p:sp>
      <p:sp>
        <p:nvSpPr>
          <p:cNvPr id="29" name="Text 27"/>
          <p:cNvSpPr/>
          <p:nvPr/>
        </p:nvSpPr>
        <p:spPr>
          <a:xfrm>
            <a:off x="10167854" y="2221992"/>
            <a:ext cx="585216" cy="585216"/>
          </a:xfrm>
          <a:prstGeom prst="rect">
            <a:avLst/>
          </a:prstGeom>
          <a:noFill/>
          <a:ln/>
        </p:spPr>
        <p:txBody>
          <a:bodyPr wrap="square" lIns="0" tIns="0" rIns="0" bIns="0" rtlCol="0" anchor="ctr"/>
          <a:lstStyle/>
          <a:p>
            <a:pPr algn="ctr" indent="0" marL="0">
              <a:buNone/>
            </a:pPr>
            <a:r>
              <a:rPr lang="en-US" sz="1700" b="1" dirty="0">
                <a:solidFill>
                  <a:srgbClr val="B26D14"/>
                </a:solidFill>
                <a:latin typeface="Courier New" pitchFamily="34" charset="0"/>
                <a:ea typeface="Courier New" pitchFamily="34" charset="-122"/>
                <a:cs typeface="Courier New" pitchFamily="34" charset="-120"/>
              </a:rPr>
              <a:t>5</a:t>
            </a:r>
            <a:endParaRPr lang="en-US" sz="1700" dirty="0"/>
          </a:p>
        </p:txBody>
      </p:sp>
      <p:sp>
        <p:nvSpPr>
          <p:cNvPr id="30" name="Text 28"/>
          <p:cNvSpPr/>
          <p:nvPr/>
        </p:nvSpPr>
        <p:spPr>
          <a:xfrm>
            <a:off x="9479036" y="3017520"/>
            <a:ext cx="1962851" cy="640080"/>
          </a:xfrm>
          <a:prstGeom prst="rect">
            <a:avLst/>
          </a:prstGeom>
          <a:noFill/>
          <a:ln/>
        </p:spPr>
        <p:txBody>
          <a:bodyPr wrap="square" lIns="0" tIns="0" rIns="0" bIns="0" rtlCol="0" anchor="t"/>
          <a:lstStyle/>
          <a:p>
            <a:pPr algn="ctr" indent="0" marL="0">
              <a:buNone/>
            </a:pPr>
            <a:r>
              <a:rPr lang="en-US" sz="1450" b="1" dirty="0">
                <a:solidFill>
                  <a:srgbClr val="1A1E26"/>
                </a:solidFill>
                <a:latin typeface="Arial" pitchFamily="34" charset="0"/>
                <a:ea typeface="Arial" pitchFamily="34" charset="-122"/>
                <a:cs typeface="Arial" pitchFamily="34" charset="-120"/>
              </a:rPr>
              <a:t>Answer + refine</a:t>
            </a:r>
            <a:endParaRPr lang="en-US" sz="1450" dirty="0"/>
          </a:p>
        </p:txBody>
      </p:sp>
      <p:sp>
        <p:nvSpPr>
          <p:cNvPr id="31" name="Text 29"/>
          <p:cNvSpPr/>
          <p:nvPr/>
        </p:nvSpPr>
        <p:spPr>
          <a:xfrm>
            <a:off x="9497324" y="3657600"/>
            <a:ext cx="1926275" cy="2103120"/>
          </a:xfrm>
          <a:prstGeom prst="rect">
            <a:avLst/>
          </a:prstGeom>
          <a:noFill/>
          <a:ln/>
        </p:spPr>
        <p:txBody>
          <a:bodyPr wrap="square" lIns="0" tIns="0" rIns="0" bIns="0" rtlCol="0" anchor="t"/>
          <a:lstStyle/>
          <a:p>
            <a:pPr algn="ctr" indent="0" marL="0">
              <a:lnSpc>
                <a:spcPct val="112000"/>
              </a:lnSpc>
              <a:buNone/>
            </a:pPr>
            <a:r>
              <a:rPr lang="en-US" sz="1150" dirty="0">
                <a:solidFill>
                  <a:srgbClr val="5B6472"/>
                </a:solidFill>
                <a:latin typeface="Calibri" pitchFamily="34" charset="0"/>
                <a:ea typeface="Calibri" pitchFamily="34" charset="-122"/>
                <a:cs typeface="Calibri" pitchFamily="34" charset="-120"/>
              </a:rPr>
              <a:t>Show the answer, product cards, and one-tap refine chips.</a:t>
            </a:r>
            <a:endParaRPr lang="en-US" sz="1150" dirty="0"/>
          </a:p>
        </p:txBody>
      </p:sp>
      <p:sp>
        <p:nvSpPr>
          <p:cNvPr id="32" name="Text 30"/>
          <p:cNvSpPr/>
          <p:nvPr/>
        </p:nvSpPr>
        <p:spPr>
          <a:xfrm>
            <a:off x="9497324" y="5577840"/>
            <a:ext cx="1926275" cy="320040"/>
          </a:xfrm>
          <a:prstGeom prst="rect">
            <a:avLst/>
          </a:prstGeom>
          <a:noFill/>
          <a:ln/>
        </p:spPr>
        <p:txBody>
          <a:bodyPr wrap="square" lIns="0" tIns="0" rIns="0" bIns="0" rtlCol="0" anchor="ctr"/>
          <a:lstStyle/>
          <a:p>
            <a:pPr algn="ctr" indent="0" marL="0">
              <a:buNone/>
            </a:pPr>
            <a:r>
              <a:rPr lang="en-US" sz="950" spc="100" kern="0" dirty="0">
                <a:solidFill>
                  <a:srgbClr val="9AA4B2"/>
                </a:solidFill>
                <a:latin typeface="Courier New" pitchFamily="34" charset="0"/>
                <a:ea typeface="Courier New" pitchFamily="34" charset="-122"/>
                <a:cs typeface="Courier New" pitchFamily="34" charset="-120"/>
              </a:rPr>
              <a:t>UI</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640080" y="91440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THE IDEA WORTH DEFENDING · THE GUARDRAIL</a:t>
            </a:r>
            <a:endParaRPr lang="en-US" sz="1150" dirty="0"/>
          </a:p>
        </p:txBody>
      </p:sp>
      <p:sp>
        <p:nvSpPr>
          <p:cNvPr id="3" name="Text 1"/>
          <p:cNvSpPr/>
          <p:nvPr/>
        </p:nvSpPr>
        <p:spPr>
          <a:xfrm>
            <a:off x="640080" y="1371600"/>
            <a:ext cx="10607040" cy="155448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Arial" pitchFamily="34" charset="0"/>
                <a:ea typeface="Arial" pitchFamily="34" charset="-122"/>
                <a:cs typeface="Arial" pitchFamily="34" charset="-120"/>
              </a:rPr>
              <a:t>It is structurally unable to recommend a product that doesn't exist.</a:t>
            </a:r>
            <a:endParaRPr lang="en-US" sz="3600" dirty="0"/>
          </a:p>
        </p:txBody>
      </p:sp>
      <p:sp>
        <p:nvSpPr>
          <p:cNvPr id="4" name="Text 2"/>
          <p:cNvSpPr/>
          <p:nvPr/>
        </p:nvSpPr>
        <p:spPr>
          <a:xfrm>
            <a:off x="640080" y="3154680"/>
            <a:ext cx="10241280" cy="1188720"/>
          </a:xfrm>
          <a:prstGeom prst="rect">
            <a:avLst/>
          </a:prstGeom>
          <a:noFill/>
          <a:ln/>
        </p:spPr>
        <p:txBody>
          <a:bodyPr wrap="square" lIns="0" tIns="0" rIns="0" bIns="0" rtlCol="0" anchor="ctr"/>
          <a:lstStyle/>
          <a:p>
            <a:pPr indent="0" marL="0">
              <a:lnSpc>
                <a:spcPct val="122000"/>
              </a:lnSpc>
              <a:buNone/>
            </a:pPr>
            <a:r>
              <a:rPr lang="en-US" sz="1650" dirty="0">
                <a:solidFill>
                  <a:srgbClr val="C7CED8"/>
                </a:solidFill>
                <a:latin typeface="Calibri" pitchFamily="34" charset="0"/>
                <a:ea typeface="Calibri" pitchFamily="34" charset="-122"/>
                <a:cs typeface="Calibri" pitchFamily="34" charset="-120"/>
              </a:rPr>
              <a:t>Grounding is not a polite request in the prompt. After the model answers, the code compares every recommended product ID against the set that was actually retrieved — and silently drops anything else. “Please don't hallucinate” is a hope; this is a guarantee.</a:t>
            </a:r>
            <a:endParaRPr lang="en-US" sz="1650" dirty="0"/>
          </a:p>
        </p:txBody>
      </p:sp>
      <p:sp>
        <p:nvSpPr>
          <p:cNvPr id="5" name="Shape 3"/>
          <p:cNvSpPr/>
          <p:nvPr/>
        </p:nvSpPr>
        <p:spPr>
          <a:xfrm>
            <a:off x="640080" y="4617720"/>
            <a:ext cx="5120640" cy="1371600"/>
          </a:xfrm>
          <a:prstGeom prst="roundRect">
            <a:avLst>
              <a:gd name="adj" fmla="val 6000"/>
            </a:avLst>
          </a:prstGeom>
          <a:solidFill>
            <a:srgbClr val="1B212B"/>
          </a:solidFill>
          <a:ln w="12700">
            <a:solidFill>
              <a:srgbClr val="3A4450"/>
            </a:solidFill>
            <a:prstDash val="solid"/>
          </a:ln>
        </p:spPr>
      </p:sp>
      <p:sp>
        <p:nvSpPr>
          <p:cNvPr id="6" name="Text 4"/>
          <p:cNvSpPr/>
          <p:nvPr/>
        </p:nvSpPr>
        <p:spPr>
          <a:xfrm>
            <a:off x="960120" y="4846320"/>
            <a:ext cx="4480560" cy="274320"/>
          </a:xfrm>
          <a:prstGeom prst="rect">
            <a:avLst/>
          </a:prstGeom>
          <a:noFill/>
          <a:ln/>
        </p:spPr>
        <p:txBody>
          <a:bodyPr wrap="square" lIns="0" tIns="0" rIns="0" bIns="0" rtlCol="0" anchor="ctr"/>
          <a:lstStyle/>
          <a:p>
            <a:pPr indent="0" marL="0">
              <a:buNone/>
            </a:pPr>
            <a:r>
              <a:rPr lang="en-US" sz="1050" b="1" spc="150" kern="0" dirty="0">
                <a:solidFill>
                  <a:srgbClr val="9AA4B2"/>
                </a:solidFill>
                <a:latin typeface="Courier New" pitchFamily="34" charset="0"/>
                <a:ea typeface="Courier New" pitchFamily="34" charset="-122"/>
                <a:cs typeface="Courier New" pitchFamily="34" charset="-120"/>
              </a:rPr>
              <a:t>PROMPT-ONLY GROUNDING</a:t>
            </a:r>
            <a:endParaRPr lang="en-US" sz="1050" dirty="0"/>
          </a:p>
        </p:txBody>
      </p:sp>
      <p:sp>
        <p:nvSpPr>
          <p:cNvPr id="7" name="Text 5"/>
          <p:cNvSpPr/>
          <p:nvPr/>
        </p:nvSpPr>
        <p:spPr>
          <a:xfrm>
            <a:off x="960120" y="5184648"/>
            <a:ext cx="4480560" cy="731520"/>
          </a:xfrm>
          <a:prstGeom prst="rect">
            <a:avLst/>
          </a:prstGeom>
          <a:noFill/>
          <a:ln/>
        </p:spPr>
        <p:txBody>
          <a:bodyPr wrap="square" lIns="0" tIns="0" rIns="0" bIns="0" rtlCol="0" anchor="t"/>
          <a:lstStyle/>
          <a:p>
            <a:pPr indent="0" marL="0">
              <a:lnSpc>
                <a:spcPct val="112000"/>
              </a:lnSpc>
              <a:buNone/>
            </a:pPr>
            <a:r>
              <a:rPr lang="en-US" sz="1300" dirty="0">
                <a:solidFill>
                  <a:srgbClr val="C7CED8"/>
                </a:solidFill>
                <a:latin typeface="Calibri" pitchFamily="34" charset="0"/>
                <a:ea typeface="Calibri" pitchFamily="34" charset="-122"/>
                <a:cs typeface="Calibri" pitchFamily="34" charset="-120"/>
              </a:rPr>
              <a:t>Depends on the model complying every time. One bad generation reaches the customer.</a:t>
            </a:r>
            <a:endParaRPr lang="en-US" sz="1300" dirty="0"/>
          </a:p>
        </p:txBody>
      </p:sp>
      <p:sp>
        <p:nvSpPr>
          <p:cNvPr id="8" name="Shape 6"/>
          <p:cNvSpPr/>
          <p:nvPr/>
        </p:nvSpPr>
        <p:spPr>
          <a:xfrm>
            <a:off x="6126480" y="4617720"/>
            <a:ext cx="5120640" cy="1371600"/>
          </a:xfrm>
          <a:prstGeom prst="roundRect">
            <a:avLst>
              <a:gd name="adj" fmla="val 6000"/>
            </a:avLst>
          </a:prstGeom>
          <a:solidFill>
            <a:srgbClr val="14251C"/>
          </a:solidFill>
          <a:ln w="15875">
            <a:solidFill>
              <a:srgbClr val="2C815B"/>
            </a:solidFill>
            <a:prstDash val="solid"/>
          </a:ln>
        </p:spPr>
      </p:sp>
      <p:sp>
        <p:nvSpPr>
          <p:cNvPr id="9" name="Text 7"/>
          <p:cNvSpPr/>
          <p:nvPr/>
        </p:nvSpPr>
        <p:spPr>
          <a:xfrm>
            <a:off x="6446520" y="4846320"/>
            <a:ext cx="4480560" cy="274320"/>
          </a:xfrm>
          <a:prstGeom prst="rect">
            <a:avLst/>
          </a:prstGeom>
          <a:noFill/>
          <a:ln/>
        </p:spPr>
        <p:txBody>
          <a:bodyPr wrap="square" lIns="0" tIns="0" rIns="0" bIns="0" rtlCol="0" anchor="ctr"/>
          <a:lstStyle/>
          <a:p>
            <a:pPr indent="0" marL="0">
              <a:buNone/>
            </a:pPr>
            <a:r>
              <a:rPr lang="en-US" sz="1050" b="1" spc="150" kern="0" dirty="0">
                <a:solidFill>
                  <a:srgbClr val="6FD39C"/>
                </a:solidFill>
                <a:latin typeface="Courier New" pitchFamily="34" charset="0"/>
                <a:ea typeface="Courier New" pitchFamily="34" charset="-122"/>
                <a:cs typeface="Courier New" pitchFamily="34" charset="-120"/>
              </a:rPr>
              <a:t>ENFORCED IN CODE  ✓</a:t>
            </a:r>
            <a:endParaRPr lang="en-US" sz="1050" dirty="0"/>
          </a:p>
        </p:txBody>
      </p:sp>
      <p:sp>
        <p:nvSpPr>
          <p:cNvPr id="10" name="Text 8"/>
          <p:cNvSpPr/>
          <p:nvPr/>
        </p:nvSpPr>
        <p:spPr>
          <a:xfrm>
            <a:off x="6446520" y="5184648"/>
            <a:ext cx="4480560" cy="731520"/>
          </a:xfrm>
          <a:prstGeom prst="rect">
            <a:avLst/>
          </a:prstGeom>
          <a:noFill/>
          <a:ln/>
        </p:spPr>
        <p:txBody>
          <a:bodyPr wrap="square" lIns="0" tIns="0" rIns="0" bIns="0" rtlCol="0" anchor="t"/>
          <a:lstStyle/>
          <a:p>
            <a:pPr indent="0" marL="0">
              <a:lnSpc>
                <a:spcPct val="112000"/>
              </a:lnSpc>
              <a:buNone/>
            </a:pPr>
            <a:r>
              <a:rPr lang="en-US" sz="1300" dirty="0">
                <a:solidFill>
                  <a:srgbClr val="C7CED8"/>
                </a:solidFill>
                <a:latin typeface="Calibri" pitchFamily="34" charset="0"/>
                <a:ea typeface="Calibri" pitchFamily="34" charset="-122"/>
                <a:cs typeface="Calibri" pitchFamily="34" charset="-120"/>
              </a:rPr>
              <a:t>Invalid IDs are removed before the answer is sent. Trust never depends on the model's goodwill.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ARCHITECTURE</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Facts and meaning, kept separate on purpose.</a:t>
            </a:r>
            <a:endParaRPr lang="en-US" sz="3200" dirty="0"/>
          </a:p>
        </p:txBody>
      </p:sp>
      <p:sp>
        <p:nvSpPr>
          <p:cNvPr id="4" name="Shape 2"/>
          <p:cNvSpPr/>
          <p:nvPr/>
        </p:nvSpPr>
        <p:spPr>
          <a:xfrm>
            <a:off x="640080"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896112"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FRONTEND · REACT</a:t>
            </a:r>
            <a:endParaRPr lang="en-US" sz="1050" dirty="0"/>
          </a:p>
        </p:txBody>
      </p:sp>
      <p:sp>
        <p:nvSpPr>
          <p:cNvPr id="6" name="Text 4"/>
          <p:cNvSpPr/>
          <p:nvPr/>
        </p:nvSpPr>
        <p:spPr>
          <a:xfrm>
            <a:off x="896112"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Store — live shop + assistant</a:t>
            </a:r>
            <a:endParaRPr lang="en-US" sz="1200" dirty="0"/>
          </a:p>
        </p:txBody>
      </p:sp>
      <p:sp>
        <p:nvSpPr>
          <p:cNvPr id="7" name="Text 5"/>
          <p:cNvSpPr/>
          <p:nvPr/>
        </p:nvSpPr>
        <p:spPr>
          <a:xfrm>
            <a:off x="896112"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Chat — full-page assistant</a:t>
            </a:r>
            <a:endParaRPr lang="en-US" sz="1200" dirty="0"/>
          </a:p>
        </p:txBody>
      </p:sp>
      <p:sp>
        <p:nvSpPr>
          <p:cNvPr id="8" name="Text 6"/>
          <p:cNvSpPr/>
          <p:nvPr/>
        </p:nvSpPr>
        <p:spPr>
          <a:xfrm>
            <a:off x="896112"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Explorer — retrieval + debug</a:t>
            </a:r>
            <a:endParaRPr lang="en-US" sz="1200" dirty="0"/>
          </a:p>
        </p:txBody>
      </p:sp>
      <p:sp>
        <p:nvSpPr>
          <p:cNvPr id="9" name="Text 7"/>
          <p:cNvSpPr/>
          <p:nvPr/>
        </p:nvSpPr>
        <p:spPr>
          <a:xfrm>
            <a:off x="896112"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Admin — settings &amp; indexing</a:t>
            </a:r>
            <a:endParaRPr lang="en-US" sz="1200" dirty="0"/>
          </a:p>
        </p:txBody>
      </p:sp>
      <p:sp>
        <p:nvSpPr>
          <p:cNvPr id="10" name="Shape 8"/>
          <p:cNvSpPr/>
          <p:nvPr/>
        </p:nvSpPr>
        <p:spPr>
          <a:xfrm>
            <a:off x="3447974"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1" name="Text 9"/>
          <p:cNvSpPr/>
          <p:nvPr/>
        </p:nvSpPr>
        <p:spPr>
          <a:xfrm>
            <a:off x="3704006"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BACKEND · FASTAPI</a:t>
            </a:r>
            <a:endParaRPr lang="en-US" sz="1050" dirty="0"/>
          </a:p>
        </p:txBody>
      </p:sp>
      <p:sp>
        <p:nvSpPr>
          <p:cNvPr id="12" name="Text 10"/>
          <p:cNvSpPr/>
          <p:nvPr/>
        </p:nvSpPr>
        <p:spPr>
          <a:xfrm>
            <a:off x="3704006"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RAG orchestration</a:t>
            </a:r>
            <a:endParaRPr lang="en-US" sz="1200" dirty="0"/>
          </a:p>
        </p:txBody>
      </p:sp>
      <p:sp>
        <p:nvSpPr>
          <p:cNvPr id="13" name="Text 11"/>
          <p:cNvSpPr/>
          <p:nvPr/>
        </p:nvSpPr>
        <p:spPr>
          <a:xfrm>
            <a:off x="3704006"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Indexing &amp; scraper services</a:t>
            </a:r>
            <a:endParaRPr lang="en-US" sz="1200" dirty="0"/>
          </a:p>
        </p:txBody>
      </p:sp>
      <p:sp>
        <p:nvSpPr>
          <p:cNvPr id="14" name="Text 12"/>
          <p:cNvSpPr/>
          <p:nvPr/>
        </p:nvSpPr>
        <p:spPr>
          <a:xfrm>
            <a:off x="3704006"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Scheduler (auto-sync)</a:t>
            </a:r>
            <a:endParaRPr lang="en-US" sz="1200" dirty="0"/>
          </a:p>
        </p:txBody>
      </p:sp>
      <p:sp>
        <p:nvSpPr>
          <p:cNvPr id="15" name="Text 13"/>
          <p:cNvSpPr/>
          <p:nvPr/>
        </p:nvSpPr>
        <p:spPr>
          <a:xfrm>
            <a:off x="3704006"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Storefront reverse-proxy</a:t>
            </a:r>
            <a:endParaRPr lang="en-US" sz="1200" dirty="0"/>
          </a:p>
        </p:txBody>
      </p:sp>
      <p:sp>
        <p:nvSpPr>
          <p:cNvPr id="16" name="Shape 14"/>
          <p:cNvSpPr/>
          <p:nvPr/>
        </p:nvSpPr>
        <p:spPr>
          <a:xfrm>
            <a:off x="6255868"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7" name="Text 15"/>
          <p:cNvSpPr/>
          <p:nvPr/>
        </p:nvSpPr>
        <p:spPr>
          <a:xfrm>
            <a:off x="6511900"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DATA STORES</a:t>
            </a:r>
            <a:endParaRPr lang="en-US" sz="1050" dirty="0"/>
          </a:p>
        </p:txBody>
      </p:sp>
      <p:sp>
        <p:nvSpPr>
          <p:cNvPr id="18" name="Text 16"/>
          <p:cNvSpPr/>
          <p:nvPr/>
        </p:nvSpPr>
        <p:spPr>
          <a:xfrm>
            <a:off x="6511900"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Relational DB — facts &amp; settings</a:t>
            </a:r>
            <a:endParaRPr lang="en-US" sz="1200" dirty="0"/>
          </a:p>
        </p:txBody>
      </p:sp>
      <p:sp>
        <p:nvSpPr>
          <p:cNvPr id="19" name="Text 17"/>
          <p:cNvSpPr/>
          <p:nvPr/>
        </p:nvSpPr>
        <p:spPr>
          <a:xfrm>
            <a:off x="6511900"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SQLite (local) / Postgres</a:t>
            </a:r>
            <a:endParaRPr lang="en-US" sz="1200" dirty="0"/>
          </a:p>
        </p:txBody>
      </p:sp>
      <p:sp>
        <p:nvSpPr>
          <p:cNvPr id="20" name="Text 18"/>
          <p:cNvSpPr/>
          <p:nvPr/>
        </p:nvSpPr>
        <p:spPr>
          <a:xfrm>
            <a:off x="6511900"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Qdrant — product vectors</a:t>
            </a:r>
            <a:endParaRPr lang="en-US" sz="1200" dirty="0"/>
          </a:p>
        </p:txBody>
      </p:sp>
      <p:sp>
        <p:nvSpPr>
          <p:cNvPr id="21" name="Text 19"/>
          <p:cNvSpPr/>
          <p:nvPr/>
        </p:nvSpPr>
        <p:spPr>
          <a:xfrm>
            <a:off x="6511900"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embedded (local) / server</a:t>
            </a:r>
            <a:endParaRPr lang="en-US" sz="1200" dirty="0"/>
          </a:p>
        </p:txBody>
      </p:sp>
      <p:sp>
        <p:nvSpPr>
          <p:cNvPr id="22" name="Shape 20"/>
          <p:cNvSpPr/>
          <p:nvPr/>
        </p:nvSpPr>
        <p:spPr>
          <a:xfrm>
            <a:off x="9063761" y="1874520"/>
            <a:ext cx="2487854" cy="3246120"/>
          </a:xfrm>
          <a:prstGeom prst="roundRect">
            <a:avLst>
              <a:gd name="adj" fmla="val 3308"/>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23" name="Text 21"/>
          <p:cNvSpPr/>
          <p:nvPr/>
        </p:nvSpPr>
        <p:spPr>
          <a:xfrm>
            <a:off x="9319793" y="2130552"/>
            <a:ext cx="1975790" cy="457200"/>
          </a:xfrm>
          <a:prstGeom prst="rect">
            <a:avLst/>
          </a:prstGeom>
          <a:noFill/>
          <a:ln/>
        </p:spPr>
        <p:txBody>
          <a:bodyPr wrap="square" lIns="0" tIns="0" rIns="0" bIns="0" rtlCol="0" anchor="t"/>
          <a:lstStyle/>
          <a:p>
            <a:pPr indent="0" marL="0">
              <a:lnSpc>
                <a:spcPct val="100000"/>
              </a:lnSpc>
              <a:buNone/>
            </a:pPr>
            <a:r>
              <a:rPr lang="en-US" sz="1050" b="1" spc="100" kern="0" dirty="0">
                <a:solidFill>
                  <a:srgbClr val="B26D14"/>
                </a:solidFill>
                <a:latin typeface="Courier New" pitchFamily="34" charset="0"/>
                <a:ea typeface="Courier New" pitchFamily="34" charset="-122"/>
                <a:cs typeface="Courier New" pitchFamily="34" charset="-120"/>
              </a:rPr>
              <a:t>EXTERNAL · MISTRAL</a:t>
            </a:r>
            <a:endParaRPr lang="en-US" sz="1050" dirty="0"/>
          </a:p>
        </p:txBody>
      </p:sp>
      <p:sp>
        <p:nvSpPr>
          <p:cNvPr id="24" name="Text 22"/>
          <p:cNvSpPr/>
          <p:nvPr/>
        </p:nvSpPr>
        <p:spPr>
          <a:xfrm>
            <a:off x="9319793" y="2770632"/>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mistral-embed — 1024-d vectors</a:t>
            </a:r>
            <a:endParaRPr lang="en-US" sz="1200" dirty="0"/>
          </a:p>
        </p:txBody>
      </p:sp>
      <p:sp>
        <p:nvSpPr>
          <p:cNvPr id="25" name="Text 23"/>
          <p:cNvSpPr/>
          <p:nvPr/>
        </p:nvSpPr>
        <p:spPr>
          <a:xfrm>
            <a:off x="9319793" y="3337560"/>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mistral-large — reason + JSON</a:t>
            </a:r>
            <a:endParaRPr lang="en-US" sz="1200" dirty="0"/>
          </a:p>
        </p:txBody>
      </p:sp>
      <p:sp>
        <p:nvSpPr>
          <p:cNvPr id="26" name="Text 24"/>
          <p:cNvSpPr/>
          <p:nvPr/>
        </p:nvSpPr>
        <p:spPr>
          <a:xfrm>
            <a:off x="9319793" y="3904488"/>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The live Metzler catalog</a:t>
            </a:r>
            <a:endParaRPr lang="en-US" sz="1200" dirty="0"/>
          </a:p>
        </p:txBody>
      </p:sp>
      <p:sp>
        <p:nvSpPr>
          <p:cNvPr id="27" name="Text 25"/>
          <p:cNvSpPr/>
          <p:nvPr/>
        </p:nvSpPr>
        <p:spPr>
          <a:xfrm>
            <a:off x="9319793" y="4471416"/>
            <a:ext cx="2030654" cy="502920"/>
          </a:xfrm>
          <a:prstGeom prst="rect">
            <a:avLst/>
          </a:prstGeom>
          <a:noFill/>
          <a:ln/>
        </p:spPr>
        <p:txBody>
          <a:bodyPr wrap="square" lIns="0" tIns="0" rIns="0" bIns="0" rtlCol="0" anchor="t"/>
          <a:lstStyle/>
          <a:p>
            <a:pPr indent="0" marL="0">
              <a:lnSpc>
                <a:spcPct val="105000"/>
              </a:lnSpc>
              <a:buNone/>
            </a:pPr>
            <a:r>
              <a:rPr lang="en-US" sz="1200" dirty="0">
                <a:solidFill>
                  <a:srgbClr val="1A1E26"/>
                </a:solidFill>
                <a:latin typeface="Calibri" pitchFamily="34" charset="0"/>
                <a:ea typeface="Calibri" pitchFamily="34" charset="-122"/>
                <a:cs typeface="Calibri" pitchFamily="34" charset="-120"/>
              </a:rPr>
              <a:t>scraped + framed</a:t>
            </a:r>
            <a:endParaRPr lang="en-US" sz="1200" dirty="0"/>
          </a:p>
        </p:txBody>
      </p:sp>
      <p:sp>
        <p:nvSpPr>
          <p:cNvPr id="28" name="Text 26"/>
          <p:cNvSpPr/>
          <p:nvPr/>
        </p:nvSpPr>
        <p:spPr>
          <a:xfrm>
            <a:off x="640080" y="5440680"/>
            <a:ext cx="10911535" cy="822960"/>
          </a:xfrm>
          <a:prstGeom prst="rect">
            <a:avLst/>
          </a:prstGeom>
          <a:noFill/>
          <a:ln/>
        </p:spPr>
        <p:txBody>
          <a:bodyPr wrap="square" lIns="0" tIns="0" rIns="0" bIns="0" rtlCol="0" anchor="t"/>
          <a:lstStyle/>
          <a:p>
            <a:pPr indent="0" marL="0">
              <a:lnSpc>
                <a:spcPct val="112000"/>
              </a:lnSpc>
              <a:buNone/>
            </a:pPr>
            <a:r>
              <a:rPr lang="en-US" sz="1500" b="1" dirty="0">
                <a:solidFill>
                  <a:srgbClr val="1A1E26"/>
                </a:solidFill>
                <a:latin typeface="Calibri" pitchFamily="34" charset="0"/>
                <a:ea typeface="Calibri" pitchFamily="34" charset="-122"/>
                <a:cs typeface="Calibri" pitchFamily="34" charset="-120"/>
              </a:rPr>
              <a:t>Why the split?  </a:t>
            </a:r>
            <a:pPr indent="0" marL="0">
              <a:lnSpc>
                <a:spcPct val="112000"/>
              </a:lnSpc>
              <a:buNone/>
            </a:pPr>
            <a:r>
              <a:rPr lang="en-US" sz="1500" dirty="0">
                <a:solidFill>
                  <a:srgbClr val="5B6472"/>
                </a:solidFill>
                <a:latin typeface="Calibri" pitchFamily="34" charset="0"/>
                <a:ea typeface="Calibri" pitchFamily="34" charset="-122"/>
                <a:cs typeface="Calibri" pitchFamily="34" charset="-120"/>
              </a:rPr>
              <a:t>The database holds authoritative facts (prices, links); Qdrant holds meaning. A recommendation's price and URL always come from the database — never invented by the model.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DESIGN DEFENSE</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Every choice, on purpose.</a:t>
            </a:r>
            <a:endParaRPr lang="en-US" sz="3200" dirty="0"/>
          </a:p>
        </p:txBody>
      </p:sp>
      <p:sp>
        <p:nvSpPr>
          <p:cNvPr id="4" name="Shape 2"/>
          <p:cNvSpPr/>
          <p:nvPr/>
        </p:nvSpPr>
        <p:spPr>
          <a:xfrm>
            <a:off x="667512" y="2029968"/>
            <a:ext cx="237744" cy="237744"/>
          </a:xfrm>
          <a:prstGeom prst="ellipse">
            <a:avLst/>
          </a:prstGeom>
          <a:solidFill>
            <a:srgbClr val="B26D14"/>
          </a:solidFill>
          <a:ln/>
        </p:spPr>
      </p:sp>
      <p:sp>
        <p:nvSpPr>
          <p:cNvPr id="5" name="Text 3"/>
          <p:cNvSpPr/>
          <p:nvPr/>
        </p:nvSpPr>
        <p:spPr>
          <a:xfrm>
            <a:off x="1097280" y="1874520"/>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RAG, not fine-tuning</a:t>
            </a:r>
            <a:endParaRPr lang="en-US" sz="1550" dirty="0"/>
          </a:p>
        </p:txBody>
      </p:sp>
      <p:sp>
        <p:nvSpPr>
          <p:cNvPr id="6" name="Text 4"/>
          <p:cNvSpPr/>
          <p:nvPr/>
        </p:nvSpPr>
        <p:spPr>
          <a:xfrm>
            <a:off x="5577840" y="1874520"/>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The catalog changes daily. Retrieval reflects changes instantly — no retraining, no model that quietly goes stale.</a:t>
            </a:r>
            <a:endParaRPr lang="en-US" sz="1350" dirty="0"/>
          </a:p>
        </p:txBody>
      </p:sp>
      <p:sp>
        <p:nvSpPr>
          <p:cNvPr id="7" name="Shape 5"/>
          <p:cNvSpPr/>
          <p:nvPr/>
        </p:nvSpPr>
        <p:spPr>
          <a:xfrm>
            <a:off x="1097280" y="2642616"/>
            <a:ext cx="10454335" cy="0"/>
          </a:xfrm>
          <a:prstGeom prst="line">
            <a:avLst/>
          </a:prstGeom>
          <a:noFill/>
          <a:ln w="12700">
            <a:solidFill>
              <a:srgbClr val="E8ECF1"/>
            </a:solidFill>
            <a:prstDash val="solid"/>
          </a:ln>
        </p:spPr>
      </p:sp>
      <p:sp>
        <p:nvSpPr>
          <p:cNvPr id="8" name="Shape 6"/>
          <p:cNvSpPr/>
          <p:nvPr/>
        </p:nvSpPr>
        <p:spPr>
          <a:xfrm>
            <a:off x="667512" y="2926080"/>
            <a:ext cx="237744" cy="237744"/>
          </a:xfrm>
          <a:prstGeom prst="ellipse">
            <a:avLst/>
          </a:prstGeom>
          <a:solidFill>
            <a:srgbClr val="B26D14"/>
          </a:solidFill>
          <a:ln/>
        </p:spPr>
      </p:sp>
      <p:sp>
        <p:nvSpPr>
          <p:cNvPr id="9" name="Text 7"/>
          <p:cNvSpPr/>
          <p:nvPr/>
        </p:nvSpPr>
        <p:spPr>
          <a:xfrm>
            <a:off x="1097280" y="2770632"/>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Vector search, not keywords</a:t>
            </a:r>
            <a:endParaRPr lang="en-US" sz="1550" dirty="0"/>
          </a:p>
        </p:txBody>
      </p:sp>
      <p:sp>
        <p:nvSpPr>
          <p:cNvPr id="10" name="Text 8"/>
          <p:cNvSpPr/>
          <p:nvPr/>
        </p:nvSpPr>
        <p:spPr>
          <a:xfrm>
            <a:off x="5577840" y="2770632"/>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Buyers describe needs, not SKUs. Meaning-based search matches intent and mixed German/English wording.</a:t>
            </a:r>
            <a:endParaRPr lang="en-US" sz="1350" dirty="0"/>
          </a:p>
        </p:txBody>
      </p:sp>
      <p:sp>
        <p:nvSpPr>
          <p:cNvPr id="11" name="Shape 9"/>
          <p:cNvSpPr/>
          <p:nvPr/>
        </p:nvSpPr>
        <p:spPr>
          <a:xfrm>
            <a:off x="1097280" y="3538728"/>
            <a:ext cx="10454335" cy="0"/>
          </a:xfrm>
          <a:prstGeom prst="line">
            <a:avLst/>
          </a:prstGeom>
          <a:noFill/>
          <a:ln w="12700">
            <a:solidFill>
              <a:srgbClr val="E8ECF1"/>
            </a:solidFill>
            <a:prstDash val="solid"/>
          </a:ln>
        </p:spPr>
      </p:sp>
      <p:sp>
        <p:nvSpPr>
          <p:cNvPr id="12" name="Shape 10"/>
          <p:cNvSpPr/>
          <p:nvPr/>
        </p:nvSpPr>
        <p:spPr>
          <a:xfrm>
            <a:off x="667512" y="3822192"/>
            <a:ext cx="237744" cy="237744"/>
          </a:xfrm>
          <a:prstGeom prst="ellipse">
            <a:avLst/>
          </a:prstGeom>
          <a:solidFill>
            <a:srgbClr val="B26D14"/>
          </a:solidFill>
          <a:ln/>
        </p:spPr>
      </p:sp>
      <p:sp>
        <p:nvSpPr>
          <p:cNvPr id="13" name="Text 11"/>
          <p:cNvSpPr/>
          <p:nvPr/>
        </p:nvSpPr>
        <p:spPr>
          <a:xfrm>
            <a:off x="1097280" y="3666744"/>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A code guardrail, not a polite prompt</a:t>
            </a:r>
            <a:endParaRPr lang="en-US" sz="1550" dirty="0"/>
          </a:p>
        </p:txBody>
      </p:sp>
      <p:sp>
        <p:nvSpPr>
          <p:cNvPr id="14" name="Text 12"/>
          <p:cNvSpPr/>
          <p:nvPr/>
        </p:nvSpPr>
        <p:spPr>
          <a:xfrm>
            <a:off x="5577840" y="3666744"/>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Trust can't hinge on the model choosing to behave. Invalid recommendations are removed, every time.</a:t>
            </a:r>
            <a:endParaRPr lang="en-US" sz="1350" dirty="0"/>
          </a:p>
        </p:txBody>
      </p:sp>
      <p:sp>
        <p:nvSpPr>
          <p:cNvPr id="15" name="Shape 13"/>
          <p:cNvSpPr/>
          <p:nvPr/>
        </p:nvSpPr>
        <p:spPr>
          <a:xfrm>
            <a:off x="1097280" y="4434840"/>
            <a:ext cx="10454335" cy="0"/>
          </a:xfrm>
          <a:prstGeom prst="line">
            <a:avLst/>
          </a:prstGeom>
          <a:noFill/>
          <a:ln w="12700">
            <a:solidFill>
              <a:srgbClr val="E8ECF1"/>
            </a:solidFill>
            <a:prstDash val="solid"/>
          </a:ln>
        </p:spPr>
      </p:sp>
      <p:sp>
        <p:nvSpPr>
          <p:cNvPr id="16" name="Shape 14"/>
          <p:cNvSpPr/>
          <p:nvPr/>
        </p:nvSpPr>
        <p:spPr>
          <a:xfrm>
            <a:off x="667512" y="4718304"/>
            <a:ext cx="237744" cy="237744"/>
          </a:xfrm>
          <a:prstGeom prst="ellipse">
            <a:avLst/>
          </a:prstGeom>
          <a:solidFill>
            <a:srgbClr val="B26D14"/>
          </a:solidFill>
          <a:ln/>
        </p:spPr>
      </p:sp>
      <p:sp>
        <p:nvSpPr>
          <p:cNvPr id="17" name="Text 15"/>
          <p:cNvSpPr/>
          <p:nvPr/>
        </p:nvSpPr>
        <p:spPr>
          <a:xfrm>
            <a:off x="1097280" y="4562856"/>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Two stores, not one</a:t>
            </a:r>
            <a:endParaRPr lang="en-US" sz="1550" dirty="0"/>
          </a:p>
        </p:txBody>
      </p:sp>
      <p:sp>
        <p:nvSpPr>
          <p:cNvPr id="18" name="Text 16"/>
          <p:cNvSpPr/>
          <p:nvPr/>
        </p:nvSpPr>
        <p:spPr>
          <a:xfrm>
            <a:off x="5577840" y="4562856"/>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Facts stay authoritative and fast to correct; meaning stays fast to search. Each store does what it's best at.</a:t>
            </a:r>
            <a:endParaRPr lang="en-US" sz="1350" dirty="0"/>
          </a:p>
        </p:txBody>
      </p:sp>
      <p:sp>
        <p:nvSpPr>
          <p:cNvPr id="19" name="Shape 17"/>
          <p:cNvSpPr/>
          <p:nvPr/>
        </p:nvSpPr>
        <p:spPr>
          <a:xfrm>
            <a:off x="1097280" y="5330952"/>
            <a:ext cx="10454335" cy="0"/>
          </a:xfrm>
          <a:prstGeom prst="line">
            <a:avLst/>
          </a:prstGeom>
          <a:noFill/>
          <a:ln w="12700">
            <a:solidFill>
              <a:srgbClr val="E8ECF1"/>
            </a:solidFill>
            <a:prstDash val="solid"/>
          </a:ln>
        </p:spPr>
      </p:sp>
      <p:sp>
        <p:nvSpPr>
          <p:cNvPr id="20" name="Shape 18"/>
          <p:cNvSpPr/>
          <p:nvPr/>
        </p:nvSpPr>
        <p:spPr>
          <a:xfrm>
            <a:off x="667512" y="5614416"/>
            <a:ext cx="237744" cy="237744"/>
          </a:xfrm>
          <a:prstGeom prst="ellipse">
            <a:avLst/>
          </a:prstGeom>
          <a:solidFill>
            <a:srgbClr val="B26D14"/>
          </a:solidFill>
          <a:ln/>
        </p:spPr>
      </p:sp>
      <p:sp>
        <p:nvSpPr>
          <p:cNvPr id="21" name="Text 19"/>
          <p:cNvSpPr/>
          <p:nvPr/>
        </p:nvSpPr>
        <p:spPr>
          <a:xfrm>
            <a:off x="1097280" y="5458968"/>
            <a:ext cx="4297680" cy="804672"/>
          </a:xfrm>
          <a:prstGeom prst="rect">
            <a:avLst/>
          </a:prstGeom>
          <a:noFill/>
          <a:ln/>
        </p:spPr>
        <p:txBody>
          <a:bodyPr wrap="square" lIns="0" tIns="0" rIns="0" bIns="0" rtlCol="0" anchor="t"/>
          <a:lstStyle/>
          <a:p>
            <a:pPr indent="0" marL="0">
              <a:lnSpc>
                <a:spcPct val="102000"/>
              </a:lnSpc>
              <a:buNone/>
            </a:pPr>
            <a:r>
              <a:rPr lang="en-US" sz="1550" b="1" dirty="0">
                <a:solidFill>
                  <a:srgbClr val="1A1E26"/>
                </a:solidFill>
                <a:latin typeface="Arial" pitchFamily="34" charset="0"/>
                <a:ea typeface="Arial" pitchFamily="34" charset="-122"/>
                <a:cs typeface="Arial" pitchFamily="34" charset="-120"/>
              </a:rPr>
              <a:t>Change-detection sync, not full re-index</a:t>
            </a:r>
            <a:endParaRPr lang="en-US" sz="1550" dirty="0"/>
          </a:p>
        </p:txBody>
      </p:sp>
      <p:sp>
        <p:nvSpPr>
          <p:cNvPr id="22" name="Text 20"/>
          <p:cNvSpPr/>
          <p:nvPr/>
        </p:nvSpPr>
        <p:spPr>
          <a:xfrm>
            <a:off x="5577840" y="5458968"/>
            <a:ext cx="5973775" cy="804672"/>
          </a:xfrm>
          <a:prstGeom prst="rect">
            <a:avLst/>
          </a:prstGeom>
          <a:noFill/>
          <a:ln/>
        </p:spPr>
        <p:txBody>
          <a:bodyPr wrap="square" lIns="0" tIns="0" rIns="0" bIns="0" rtlCol="0" anchor="t"/>
          <a:lstStyle/>
          <a:p>
            <a:pPr indent="0" marL="0">
              <a:lnSpc>
                <a:spcPct val="112000"/>
              </a:lnSpc>
              <a:buNone/>
            </a:pPr>
            <a:r>
              <a:rPr lang="en-US" sz="1350" dirty="0">
                <a:solidFill>
                  <a:srgbClr val="5B6472"/>
                </a:solidFill>
                <a:latin typeface="Calibri" pitchFamily="34" charset="0"/>
                <a:ea typeface="Calibri" pitchFamily="34" charset="-122"/>
                <a:cs typeface="Calibri" pitchFamily="34" charset="-120"/>
              </a:rPr>
              <a:t>Keeps the catalog fresh at near-zero recurring cost — only changed products are re-embedded.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WHY IT MATTERS</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Value on both sides of the screen.</a:t>
            </a:r>
            <a:endParaRPr lang="en-US" sz="3200" dirty="0"/>
          </a:p>
        </p:txBody>
      </p:sp>
      <p:sp>
        <p:nvSpPr>
          <p:cNvPr id="4" name="Shape 2"/>
          <p:cNvSpPr/>
          <p:nvPr/>
        </p:nvSpPr>
        <p:spPr>
          <a:xfrm>
            <a:off x="640080" y="1874520"/>
            <a:ext cx="5227168" cy="3977640"/>
          </a:xfrm>
          <a:prstGeom prst="roundRect">
            <a:avLst>
              <a:gd name="adj" fmla="val 2069"/>
            </a:avLst>
          </a:prstGeom>
          <a:solidFill>
            <a:srgbClr val="F2F4F7"/>
          </a:solidFill>
          <a:ln w="15875">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1005840" y="2194560"/>
            <a:ext cx="4495648" cy="365760"/>
          </a:xfrm>
          <a:prstGeom prst="rect">
            <a:avLst/>
          </a:prstGeom>
          <a:noFill/>
          <a:ln/>
        </p:spPr>
        <p:txBody>
          <a:bodyPr wrap="square" lIns="0" tIns="0" rIns="0" bIns="0" rtlCol="0" anchor="ctr"/>
          <a:lstStyle/>
          <a:p>
            <a:pPr indent="0" marL="0">
              <a:buNone/>
            </a:pPr>
            <a:r>
              <a:rPr lang="en-US" sz="1200" b="1" spc="150" kern="0" dirty="0">
                <a:solidFill>
                  <a:srgbClr val="B26D14"/>
                </a:solidFill>
                <a:latin typeface="Courier New" pitchFamily="34" charset="0"/>
                <a:ea typeface="Courier New" pitchFamily="34" charset="-122"/>
                <a:cs typeface="Courier New" pitchFamily="34" charset="-120"/>
              </a:rPr>
              <a:t>FOR THE SHOPPER</a:t>
            </a:r>
            <a:endParaRPr lang="en-US" sz="1200" dirty="0"/>
          </a:p>
        </p:txBody>
      </p:sp>
      <p:sp>
        <p:nvSpPr>
          <p:cNvPr id="6" name="Shape 4"/>
          <p:cNvSpPr/>
          <p:nvPr/>
        </p:nvSpPr>
        <p:spPr>
          <a:xfrm>
            <a:off x="1074420" y="2903220"/>
            <a:ext cx="137160" cy="137160"/>
          </a:xfrm>
          <a:prstGeom prst="ellipse">
            <a:avLst/>
          </a:prstGeom>
          <a:solidFill>
            <a:srgbClr val="B26D14"/>
          </a:solidFill>
          <a:ln/>
        </p:spPr>
      </p:sp>
      <p:sp>
        <p:nvSpPr>
          <p:cNvPr id="7" name="Text 5"/>
          <p:cNvSpPr/>
          <p:nvPr/>
        </p:nvSpPr>
        <p:spPr>
          <a:xfrm>
            <a:off x="1371600" y="2788920"/>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Finds the right product by describing a need — no jargon required.</a:t>
            </a:r>
            <a:endParaRPr lang="en-US" sz="1400" dirty="0"/>
          </a:p>
        </p:txBody>
      </p:sp>
      <p:sp>
        <p:nvSpPr>
          <p:cNvPr id="8" name="Shape 6"/>
          <p:cNvSpPr/>
          <p:nvPr/>
        </p:nvSpPr>
        <p:spPr>
          <a:xfrm>
            <a:off x="1074420" y="3616452"/>
            <a:ext cx="137160" cy="137160"/>
          </a:xfrm>
          <a:prstGeom prst="ellipse">
            <a:avLst/>
          </a:prstGeom>
          <a:solidFill>
            <a:srgbClr val="B26D14"/>
          </a:solidFill>
          <a:ln/>
        </p:spPr>
      </p:sp>
      <p:sp>
        <p:nvSpPr>
          <p:cNvPr id="9" name="Text 7"/>
          <p:cNvSpPr/>
          <p:nvPr/>
        </p:nvSpPr>
        <p:spPr>
          <a:xfrm>
            <a:off x="1371600" y="3502152"/>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Honest, specific reasons for each pick build confidence.</a:t>
            </a:r>
            <a:endParaRPr lang="en-US" sz="1400" dirty="0"/>
          </a:p>
        </p:txBody>
      </p:sp>
      <p:sp>
        <p:nvSpPr>
          <p:cNvPr id="10" name="Shape 8"/>
          <p:cNvSpPr/>
          <p:nvPr/>
        </p:nvSpPr>
        <p:spPr>
          <a:xfrm>
            <a:off x="1074420" y="4329684"/>
            <a:ext cx="137160" cy="137160"/>
          </a:xfrm>
          <a:prstGeom prst="ellipse">
            <a:avLst/>
          </a:prstGeom>
          <a:solidFill>
            <a:srgbClr val="B26D14"/>
          </a:solidFill>
          <a:ln/>
        </p:spPr>
      </p:sp>
      <p:sp>
        <p:nvSpPr>
          <p:cNvPr id="11" name="Text 9"/>
          <p:cNvSpPr/>
          <p:nvPr/>
        </p:nvSpPr>
        <p:spPr>
          <a:xfrm>
            <a:off x="1371600" y="4215384"/>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One tap to the exact product page to buy.</a:t>
            </a:r>
            <a:endParaRPr lang="en-US" sz="1400" dirty="0"/>
          </a:p>
        </p:txBody>
      </p:sp>
      <p:sp>
        <p:nvSpPr>
          <p:cNvPr id="12" name="Shape 10"/>
          <p:cNvSpPr/>
          <p:nvPr/>
        </p:nvSpPr>
        <p:spPr>
          <a:xfrm>
            <a:off x="1074420" y="5042916"/>
            <a:ext cx="137160" cy="137160"/>
          </a:xfrm>
          <a:prstGeom prst="ellipse">
            <a:avLst/>
          </a:prstGeom>
          <a:solidFill>
            <a:srgbClr val="B26D14"/>
          </a:solidFill>
          <a:ln/>
        </p:spPr>
      </p:sp>
      <p:sp>
        <p:nvSpPr>
          <p:cNvPr id="13" name="Text 11"/>
          <p:cNvSpPr/>
          <p:nvPr/>
        </p:nvSpPr>
        <p:spPr>
          <a:xfrm>
            <a:off x="1371600" y="4928616"/>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Follow-up questions and refine chips narrow results fast.</a:t>
            </a:r>
            <a:endParaRPr lang="en-US" sz="1400" dirty="0"/>
          </a:p>
        </p:txBody>
      </p:sp>
      <p:sp>
        <p:nvSpPr>
          <p:cNvPr id="14" name="Shape 12"/>
          <p:cNvSpPr/>
          <p:nvPr/>
        </p:nvSpPr>
        <p:spPr>
          <a:xfrm>
            <a:off x="6324448" y="1874520"/>
            <a:ext cx="5227168" cy="3977640"/>
          </a:xfrm>
          <a:prstGeom prst="roundRect">
            <a:avLst>
              <a:gd name="adj" fmla="val 2069"/>
            </a:avLst>
          </a:prstGeom>
          <a:solidFill>
            <a:srgbClr val="14251C"/>
          </a:solidFill>
          <a:ln w="15875">
            <a:solidFill>
              <a:srgbClr val="2C815B"/>
            </a:solidFill>
            <a:prstDash val="solid"/>
          </a:ln>
          <a:effectLst>
            <a:outerShdw sx="100000" sy="100000" kx="0" ky="0" algn="bl" rotWithShape="0" blurRad="127000" dist="38100" dir="5400000">
              <a:srgbClr val="1A1E26">
                <a:alpha val="18000"/>
              </a:srgbClr>
            </a:outerShdw>
          </a:effectLst>
        </p:spPr>
      </p:sp>
      <p:sp>
        <p:nvSpPr>
          <p:cNvPr id="15" name="Text 13"/>
          <p:cNvSpPr/>
          <p:nvPr/>
        </p:nvSpPr>
        <p:spPr>
          <a:xfrm>
            <a:off x="6690208" y="2194560"/>
            <a:ext cx="4495648" cy="365760"/>
          </a:xfrm>
          <a:prstGeom prst="rect">
            <a:avLst/>
          </a:prstGeom>
          <a:noFill/>
          <a:ln/>
        </p:spPr>
        <p:txBody>
          <a:bodyPr wrap="square" lIns="0" tIns="0" rIns="0" bIns="0" rtlCol="0" anchor="ctr"/>
          <a:lstStyle/>
          <a:p>
            <a:pPr indent="0" marL="0">
              <a:buNone/>
            </a:pPr>
            <a:r>
              <a:rPr lang="en-US" sz="1200" b="1" spc="150" kern="0" dirty="0">
                <a:solidFill>
                  <a:srgbClr val="2C815B"/>
                </a:solidFill>
                <a:latin typeface="Courier New" pitchFamily="34" charset="0"/>
                <a:ea typeface="Courier New" pitchFamily="34" charset="-122"/>
                <a:cs typeface="Courier New" pitchFamily="34" charset="-120"/>
              </a:rPr>
              <a:t>FOR THE STORE</a:t>
            </a:r>
            <a:endParaRPr lang="en-US" sz="1200" dirty="0"/>
          </a:p>
        </p:txBody>
      </p:sp>
      <p:sp>
        <p:nvSpPr>
          <p:cNvPr id="16" name="Shape 14"/>
          <p:cNvSpPr/>
          <p:nvPr/>
        </p:nvSpPr>
        <p:spPr>
          <a:xfrm>
            <a:off x="6758788" y="2903220"/>
            <a:ext cx="137160" cy="137160"/>
          </a:xfrm>
          <a:prstGeom prst="ellipse">
            <a:avLst/>
          </a:prstGeom>
          <a:solidFill>
            <a:srgbClr val="2C815B"/>
          </a:solidFill>
          <a:ln/>
        </p:spPr>
      </p:sp>
      <p:sp>
        <p:nvSpPr>
          <p:cNvPr id="17" name="Text 15"/>
          <p:cNvSpPr/>
          <p:nvPr/>
        </p:nvSpPr>
        <p:spPr>
          <a:xfrm>
            <a:off x="7055968" y="2788920"/>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Higher findability turns browsers into buyers.</a:t>
            </a:r>
            <a:endParaRPr lang="en-US" sz="1400" dirty="0"/>
          </a:p>
        </p:txBody>
      </p:sp>
      <p:sp>
        <p:nvSpPr>
          <p:cNvPr id="18" name="Shape 16"/>
          <p:cNvSpPr/>
          <p:nvPr/>
        </p:nvSpPr>
        <p:spPr>
          <a:xfrm>
            <a:off x="6758788" y="3616452"/>
            <a:ext cx="137160" cy="137160"/>
          </a:xfrm>
          <a:prstGeom prst="ellipse">
            <a:avLst/>
          </a:prstGeom>
          <a:solidFill>
            <a:srgbClr val="2C815B"/>
          </a:solidFill>
          <a:ln/>
        </p:spPr>
      </p:sp>
      <p:sp>
        <p:nvSpPr>
          <p:cNvPr id="19" name="Text 17"/>
          <p:cNvSpPr/>
          <p:nvPr/>
        </p:nvSpPr>
        <p:spPr>
          <a:xfrm>
            <a:off x="7055968" y="3502152"/>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Fewer “which one do I need?” support requests.</a:t>
            </a:r>
            <a:endParaRPr lang="en-US" sz="1400" dirty="0"/>
          </a:p>
        </p:txBody>
      </p:sp>
      <p:sp>
        <p:nvSpPr>
          <p:cNvPr id="20" name="Shape 18"/>
          <p:cNvSpPr/>
          <p:nvPr/>
        </p:nvSpPr>
        <p:spPr>
          <a:xfrm>
            <a:off x="6758788" y="4329684"/>
            <a:ext cx="137160" cy="137160"/>
          </a:xfrm>
          <a:prstGeom prst="ellipse">
            <a:avLst/>
          </a:prstGeom>
          <a:solidFill>
            <a:srgbClr val="2C815B"/>
          </a:solidFill>
          <a:ln/>
        </p:spPr>
      </p:sp>
      <p:sp>
        <p:nvSpPr>
          <p:cNvPr id="21" name="Text 19"/>
          <p:cNvSpPr/>
          <p:nvPr/>
        </p:nvSpPr>
        <p:spPr>
          <a:xfrm>
            <a:off x="7055968" y="4215384"/>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A reusable REST engine — power any storefront or channel.</a:t>
            </a:r>
            <a:endParaRPr lang="en-US" sz="1400" dirty="0"/>
          </a:p>
        </p:txBody>
      </p:sp>
      <p:sp>
        <p:nvSpPr>
          <p:cNvPr id="22" name="Shape 20"/>
          <p:cNvSpPr/>
          <p:nvPr/>
        </p:nvSpPr>
        <p:spPr>
          <a:xfrm>
            <a:off x="6758788" y="5042916"/>
            <a:ext cx="137160" cy="137160"/>
          </a:xfrm>
          <a:prstGeom prst="ellipse">
            <a:avLst/>
          </a:prstGeom>
          <a:solidFill>
            <a:srgbClr val="2C815B"/>
          </a:solidFill>
          <a:ln/>
        </p:spPr>
      </p:sp>
      <p:sp>
        <p:nvSpPr>
          <p:cNvPr id="23" name="Text 21"/>
          <p:cNvSpPr/>
          <p:nvPr/>
        </p:nvSpPr>
        <p:spPr>
          <a:xfrm>
            <a:off x="7055968" y="4928616"/>
            <a:ext cx="4129888" cy="640080"/>
          </a:xfrm>
          <a:prstGeom prst="rect">
            <a:avLst/>
          </a:prstGeom>
          <a:noFill/>
          <a:ln/>
        </p:spPr>
        <p:txBody>
          <a:bodyPr wrap="square" lIns="0" tIns="0" rIns="0" bIns="0" rtlCol="0" anchor="t"/>
          <a:lstStyle/>
          <a:p>
            <a:pPr indent="0" marL="0">
              <a:lnSpc>
                <a:spcPct val="112000"/>
              </a:lnSpc>
              <a:buNone/>
            </a:pPr>
            <a:r>
              <a:rPr lang="en-US" sz="1400" dirty="0">
                <a:solidFill>
                  <a:srgbClr val="1A1E26"/>
                </a:solidFill>
                <a:latin typeface="Calibri" pitchFamily="34" charset="0"/>
                <a:ea typeface="Calibri" pitchFamily="34" charset="-122"/>
                <a:cs typeface="Calibri" pitchFamily="34" charset="-120"/>
              </a:rPr>
              <a:t>Costs stay contained by design (caching, incremental sync).</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640080" y="68580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PROOF</a:t>
            </a:r>
            <a:endParaRPr lang="en-US" sz="1150" dirty="0"/>
          </a:p>
        </p:txBody>
      </p:sp>
      <p:sp>
        <p:nvSpPr>
          <p:cNvPr id="3" name="Text 1"/>
          <p:cNvSpPr/>
          <p:nvPr/>
        </p:nvSpPr>
        <p:spPr>
          <a:xfrm>
            <a:off x="640080" y="1005840"/>
            <a:ext cx="10911535"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Not slide-ware — a system that runs today.</a:t>
            </a:r>
            <a:endParaRPr lang="en-US" sz="3200" dirty="0"/>
          </a:p>
        </p:txBody>
      </p:sp>
      <p:sp>
        <p:nvSpPr>
          <p:cNvPr id="4" name="Shape 2"/>
          <p:cNvSpPr/>
          <p:nvPr/>
        </p:nvSpPr>
        <p:spPr>
          <a:xfrm>
            <a:off x="640080" y="2286000"/>
            <a:ext cx="2453564" cy="1828800"/>
          </a:xfrm>
          <a:prstGeom prst="roundRect">
            <a:avLst>
              <a:gd name="adj" fmla="val 4500"/>
            </a:avLst>
          </a:prstGeom>
          <a:solidFill>
            <a:srgbClr val="1B212B"/>
          </a:solidFill>
          <a:ln w="12700">
            <a:solidFill>
              <a:srgbClr val="3A4450"/>
            </a:solidFill>
            <a:prstDash val="solid"/>
          </a:ln>
        </p:spPr>
      </p:sp>
      <p:sp>
        <p:nvSpPr>
          <p:cNvPr id="5" name="Text 3"/>
          <p:cNvSpPr/>
          <p:nvPr/>
        </p:nvSpPr>
        <p:spPr>
          <a:xfrm>
            <a:off x="777240"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0</a:t>
            </a:r>
            <a:endParaRPr lang="en-US" sz="4800" dirty="0"/>
          </a:p>
        </p:txBody>
      </p:sp>
      <p:sp>
        <p:nvSpPr>
          <p:cNvPr id="6" name="Text 4"/>
          <p:cNvSpPr/>
          <p:nvPr/>
        </p:nvSpPr>
        <p:spPr>
          <a:xfrm>
            <a:off x="868680"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servers to run — SQLite + embedded Qdrant</a:t>
            </a:r>
            <a:endParaRPr lang="en-US" sz="1200" dirty="0"/>
          </a:p>
        </p:txBody>
      </p:sp>
      <p:sp>
        <p:nvSpPr>
          <p:cNvPr id="7" name="Shape 5"/>
          <p:cNvSpPr/>
          <p:nvPr/>
        </p:nvSpPr>
        <p:spPr>
          <a:xfrm>
            <a:off x="3459404" y="2286000"/>
            <a:ext cx="2453564" cy="1828800"/>
          </a:xfrm>
          <a:prstGeom prst="roundRect">
            <a:avLst>
              <a:gd name="adj" fmla="val 4500"/>
            </a:avLst>
          </a:prstGeom>
          <a:solidFill>
            <a:srgbClr val="1B212B"/>
          </a:solidFill>
          <a:ln w="12700">
            <a:solidFill>
              <a:srgbClr val="3A4450"/>
            </a:solidFill>
            <a:prstDash val="solid"/>
          </a:ln>
        </p:spPr>
      </p:sp>
      <p:sp>
        <p:nvSpPr>
          <p:cNvPr id="8" name="Text 6"/>
          <p:cNvSpPr/>
          <p:nvPr/>
        </p:nvSpPr>
        <p:spPr>
          <a:xfrm>
            <a:off x="3596564"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1</a:t>
            </a:r>
            <a:endParaRPr lang="en-US" sz="4800" dirty="0"/>
          </a:p>
        </p:txBody>
      </p:sp>
      <p:sp>
        <p:nvSpPr>
          <p:cNvPr id="9" name="Text 7"/>
          <p:cNvSpPr/>
          <p:nvPr/>
        </p:nvSpPr>
        <p:spPr>
          <a:xfrm>
            <a:off x="3688004"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command — one launcher starts everything</a:t>
            </a:r>
            <a:endParaRPr lang="en-US" sz="1200" dirty="0"/>
          </a:p>
        </p:txBody>
      </p:sp>
      <p:sp>
        <p:nvSpPr>
          <p:cNvPr id="10" name="Shape 8"/>
          <p:cNvSpPr/>
          <p:nvPr/>
        </p:nvSpPr>
        <p:spPr>
          <a:xfrm>
            <a:off x="6278728" y="2286000"/>
            <a:ext cx="2453564" cy="1828800"/>
          </a:xfrm>
          <a:prstGeom prst="roundRect">
            <a:avLst>
              <a:gd name="adj" fmla="val 4500"/>
            </a:avLst>
          </a:prstGeom>
          <a:solidFill>
            <a:srgbClr val="1B212B"/>
          </a:solidFill>
          <a:ln w="12700">
            <a:solidFill>
              <a:srgbClr val="3A4450"/>
            </a:solidFill>
            <a:prstDash val="solid"/>
          </a:ln>
        </p:spPr>
      </p:sp>
      <p:sp>
        <p:nvSpPr>
          <p:cNvPr id="11" name="Text 9"/>
          <p:cNvSpPr/>
          <p:nvPr/>
        </p:nvSpPr>
        <p:spPr>
          <a:xfrm>
            <a:off x="6415888"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1024</a:t>
            </a:r>
            <a:endParaRPr lang="en-US" sz="4800" dirty="0"/>
          </a:p>
        </p:txBody>
      </p:sp>
      <p:sp>
        <p:nvSpPr>
          <p:cNvPr id="12" name="Text 10"/>
          <p:cNvSpPr/>
          <p:nvPr/>
        </p:nvSpPr>
        <p:spPr>
          <a:xfrm>
            <a:off x="6507328"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dimension meaning vector per product</a:t>
            </a:r>
            <a:endParaRPr lang="en-US" sz="1200" dirty="0"/>
          </a:p>
        </p:txBody>
      </p:sp>
      <p:sp>
        <p:nvSpPr>
          <p:cNvPr id="13" name="Shape 11"/>
          <p:cNvSpPr/>
          <p:nvPr/>
        </p:nvSpPr>
        <p:spPr>
          <a:xfrm>
            <a:off x="9098051" y="2286000"/>
            <a:ext cx="2453564" cy="1828800"/>
          </a:xfrm>
          <a:prstGeom prst="roundRect">
            <a:avLst>
              <a:gd name="adj" fmla="val 4500"/>
            </a:avLst>
          </a:prstGeom>
          <a:solidFill>
            <a:srgbClr val="1B212B"/>
          </a:solidFill>
          <a:ln w="12700">
            <a:solidFill>
              <a:srgbClr val="3A4450"/>
            </a:solidFill>
            <a:prstDash val="solid"/>
          </a:ln>
        </p:spPr>
      </p:sp>
      <p:sp>
        <p:nvSpPr>
          <p:cNvPr id="14" name="Text 12"/>
          <p:cNvSpPr/>
          <p:nvPr/>
        </p:nvSpPr>
        <p:spPr>
          <a:xfrm>
            <a:off x="9235211" y="2560320"/>
            <a:ext cx="2179244" cy="868680"/>
          </a:xfrm>
          <a:prstGeom prst="rect">
            <a:avLst/>
          </a:prstGeom>
          <a:noFill/>
          <a:ln/>
        </p:spPr>
        <p:txBody>
          <a:bodyPr wrap="square" lIns="0" tIns="0" rIns="0" bIns="0" rtlCol="0" anchor="ctr"/>
          <a:lstStyle/>
          <a:p>
            <a:pPr algn="ctr" indent="0" marL="0">
              <a:buNone/>
            </a:pPr>
            <a:r>
              <a:rPr lang="en-US" sz="4800" b="1" dirty="0">
                <a:solidFill>
                  <a:srgbClr val="E4A64C"/>
                </a:solidFill>
                <a:latin typeface="Courier New" pitchFamily="34" charset="0"/>
                <a:ea typeface="Courier New" pitchFamily="34" charset="-122"/>
                <a:cs typeface="Courier New" pitchFamily="34" charset="-120"/>
              </a:rPr>
              <a:t>≤3</a:t>
            </a:r>
            <a:endParaRPr lang="en-US" sz="4800" dirty="0"/>
          </a:p>
        </p:txBody>
      </p:sp>
      <p:sp>
        <p:nvSpPr>
          <p:cNvPr id="15" name="Text 13"/>
          <p:cNvSpPr/>
          <p:nvPr/>
        </p:nvSpPr>
        <p:spPr>
          <a:xfrm>
            <a:off x="9326651" y="3456432"/>
            <a:ext cx="1996364" cy="548640"/>
          </a:xfrm>
          <a:prstGeom prst="rect">
            <a:avLst/>
          </a:prstGeom>
          <a:noFill/>
          <a:ln/>
        </p:spPr>
        <p:txBody>
          <a:bodyPr wrap="square" lIns="0" tIns="0" rIns="0" bIns="0" rtlCol="0" anchor="t"/>
          <a:lstStyle/>
          <a:p>
            <a:pPr algn="ctr" indent="0" marL="0">
              <a:lnSpc>
                <a:spcPct val="110000"/>
              </a:lnSpc>
              <a:buNone/>
            </a:pPr>
            <a:r>
              <a:rPr lang="en-US" sz="1200" dirty="0">
                <a:solidFill>
                  <a:srgbClr val="C7CED8"/>
                </a:solidFill>
                <a:latin typeface="Calibri" pitchFamily="34" charset="0"/>
                <a:ea typeface="Calibri" pitchFamily="34" charset="-122"/>
                <a:cs typeface="Calibri" pitchFamily="34" charset="-120"/>
              </a:rPr>
              <a:t>grounded recommendations per answer</a:t>
            </a:r>
            <a:endParaRPr lang="en-US" sz="1200" dirty="0"/>
          </a:p>
        </p:txBody>
      </p:sp>
      <p:sp>
        <p:nvSpPr>
          <p:cNvPr id="16" name="Text 14"/>
          <p:cNvSpPr/>
          <p:nvPr/>
        </p:nvSpPr>
        <p:spPr>
          <a:xfrm>
            <a:off x="640080" y="4663440"/>
            <a:ext cx="10607040" cy="1097280"/>
          </a:xfrm>
          <a:prstGeom prst="rect">
            <a:avLst/>
          </a:prstGeom>
          <a:noFill/>
          <a:ln/>
        </p:spPr>
        <p:txBody>
          <a:bodyPr wrap="square" lIns="0" tIns="0" rIns="0" bIns="0" rtlCol="0" anchor="ctr"/>
          <a:lstStyle/>
          <a:p>
            <a:pPr indent="0" marL="0">
              <a:lnSpc>
                <a:spcPct val="120000"/>
              </a:lnSpc>
              <a:buNone/>
            </a:pPr>
            <a:r>
              <a:rPr lang="en-US" sz="1500" i="1" dirty="0">
                <a:solidFill>
                  <a:srgbClr val="C7CED8"/>
                </a:solidFill>
                <a:latin typeface="Calibri" pitchFamily="34" charset="0"/>
                <a:ea typeface="Calibri" pitchFamily="34" charset="-122"/>
                <a:cs typeface="Calibri" pitchFamily="34" charset="-120"/>
              </a:rPr>
              <a:t>Runs on a plain laptop with no Docker and no admin rights. Imports a real 40-product catalog, and degrades gracefully — with no API key it still loads and answers honestly instead of crashing.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THE ECONOMICS</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000" b="1" dirty="0">
                <a:solidFill>
                  <a:srgbClr val="1A1E26"/>
                </a:solidFill>
                <a:latin typeface="Arial" pitchFamily="34" charset="0"/>
                <a:ea typeface="Arial" pitchFamily="34" charset="-122"/>
                <a:cs typeface="Arial" pitchFamily="34" charset="-120"/>
              </a:rPr>
              <a:t>Cheap to run — the investment is time, not tokens.</a:t>
            </a:r>
            <a:endParaRPr lang="en-US" sz="3000" dirty="0"/>
          </a:p>
        </p:txBody>
      </p:sp>
      <p:sp>
        <p:nvSpPr>
          <p:cNvPr id="4" name="Shape 2"/>
          <p:cNvSpPr/>
          <p:nvPr/>
        </p:nvSpPr>
        <p:spPr>
          <a:xfrm>
            <a:off x="640080" y="1783080"/>
            <a:ext cx="3332378" cy="1371600"/>
          </a:xfrm>
          <a:prstGeom prst="roundRect">
            <a:avLst>
              <a:gd name="adj" fmla="val 6000"/>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822960" y="1984248"/>
            <a:ext cx="2966618" cy="658368"/>
          </a:xfrm>
          <a:prstGeom prst="rect">
            <a:avLst/>
          </a:prstGeom>
          <a:noFill/>
          <a:ln/>
        </p:spPr>
        <p:txBody>
          <a:bodyPr wrap="square" lIns="0" tIns="0" rIns="0" bIns="0" rtlCol="0" anchor="ctr"/>
          <a:lstStyle/>
          <a:p>
            <a:pPr algn="ctr" indent="0" marL="0">
              <a:buNone/>
            </a:pPr>
            <a:r>
              <a:rPr lang="en-US" sz="3400" b="1" dirty="0">
                <a:solidFill>
                  <a:srgbClr val="B26D14"/>
                </a:solidFill>
                <a:latin typeface="Courier New" pitchFamily="34" charset="0"/>
                <a:ea typeface="Courier New" pitchFamily="34" charset="-122"/>
                <a:cs typeface="Courier New" pitchFamily="34" charset="-120"/>
              </a:rPr>
              <a:t>842</a:t>
            </a:r>
            <a:endParaRPr lang="en-US" sz="3400" dirty="0"/>
          </a:p>
        </p:txBody>
      </p:sp>
      <p:sp>
        <p:nvSpPr>
          <p:cNvPr id="6" name="Text 4"/>
          <p:cNvSpPr/>
          <p:nvPr/>
        </p:nvSpPr>
        <p:spPr>
          <a:xfrm>
            <a:off x="914400" y="2651760"/>
            <a:ext cx="2783738" cy="457200"/>
          </a:xfrm>
          <a:prstGeom prst="rect">
            <a:avLst/>
          </a:prstGeom>
          <a:noFill/>
          <a:ln/>
        </p:spPr>
        <p:txBody>
          <a:bodyPr wrap="square" lIns="0" tIns="0" rIns="0" bIns="0" rtlCol="0" anchor="t"/>
          <a:lstStyle/>
          <a:p>
            <a:pPr algn="ctr" indent="0" marL="0">
              <a:lnSpc>
                <a:spcPct val="108000"/>
              </a:lnSpc>
              <a:buNone/>
            </a:pPr>
            <a:r>
              <a:rPr lang="en-US" sz="1200" dirty="0">
                <a:solidFill>
                  <a:srgbClr val="5B6472"/>
                </a:solidFill>
                <a:latin typeface="Calibri" pitchFamily="34" charset="0"/>
                <a:ea typeface="Calibri" pitchFamily="34" charset="-122"/>
                <a:cs typeface="Calibri" pitchFamily="34" charset="-120"/>
              </a:rPr>
              <a:t>products in your live catalog (6 categories)</a:t>
            </a:r>
            <a:endParaRPr lang="en-US" sz="1200" dirty="0"/>
          </a:p>
        </p:txBody>
      </p:sp>
      <p:sp>
        <p:nvSpPr>
          <p:cNvPr id="7" name="Shape 5"/>
          <p:cNvSpPr/>
          <p:nvPr/>
        </p:nvSpPr>
        <p:spPr>
          <a:xfrm>
            <a:off x="4429658" y="1783080"/>
            <a:ext cx="3332378" cy="1371600"/>
          </a:xfrm>
          <a:prstGeom prst="roundRect">
            <a:avLst>
              <a:gd name="adj" fmla="val 6000"/>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8" name="Text 6"/>
          <p:cNvSpPr/>
          <p:nvPr/>
        </p:nvSpPr>
        <p:spPr>
          <a:xfrm>
            <a:off x="4612538" y="1984248"/>
            <a:ext cx="2966618" cy="658368"/>
          </a:xfrm>
          <a:prstGeom prst="rect">
            <a:avLst/>
          </a:prstGeom>
          <a:noFill/>
          <a:ln/>
        </p:spPr>
        <p:txBody>
          <a:bodyPr wrap="square" lIns="0" tIns="0" rIns="0" bIns="0" rtlCol="0" anchor="ctr"/>
          <a:lstStyle/>
          <a:p>
            <a:pPr algn="ctr" indent="0" marL="0">
              <a:buNone/>
            </a:pPr>
            <a:r>
              <a:rPr lang="en-US" sz="3400" b="1" dirty="0">
                <a:solidFill>
                  <a:srgbClr val="B26D14"/>
                </a:solidFill>
                <a:latin typeface="Courier New" pitchFamily="34" charset="0"/>
                <a:ea typeface="Courier New" pitchFamily="34" charset="-122"/>
                <a:cs typeface="Courier New" pitchFamily="34" charset="-120"/>
              </a:rPr>
              <a:t>~$0.02</a:t>
            </a:r>
            <a:endParaRPr lang="en-US" sz="3400" dirty="0"/>
          </a:p>
        </p:txBody>
      </p:sp>
      <p:sp>
        <p:nvSpPr>
          <p:cNvPr id="9" name="Text 7"/>
          <p:cNvSpPr/>
          <p:nvPr/>
        </p:nvSpPr>
        <p:spPr>
          <a:xfrm>
            <a:off x="4703978" y="2651760"/>
            <a:ext cx="2783738" cy="457200"/>
          </a:xfrm>
          <a:prstGeom prst="rect">
            <a:avLst/>
          </a:prstGeom>
          <a:noFill/>
          <a:ln/>
        </p:spPr>
        <p:txBody>
          <a:bodyPr wrap="square" lIns="0" tIns="0" rIns="0" bIns="0" rtlCol="0" anchor="t"/>
          <a:lstStyle/>
          <a:p>
            <a:pPr algn="ctr" indent="0" marL="0">
              <a:lnSpc>
                <a:spcPct val="108000"/>
              </a:lnSpc>
              <a:buNone/>
            </a:pPr>
            <a:r>
              <a:rPr lang="en-US" sz="1200" dirty="0">
                <a:solidFill>
                  <a:srgbClr val="5B6472"/>
                </a:solidFill>
                <a:latin typeface="Calibri" pitchFamily="34" charset="0"/>
                <a:ea typeface="Calibri" pitchFamily="34" charset="-122"/>
                <a:cs typeface="Calibri" pitchFamily="34" charset="-120"/>
              </a:rPr>
              <a:t>to embed the entire catalog once</a:t>
            </a:r>
            <a:endParaRPr lang="en-US" sz="1200" dirty="0"/>
          </a:p>
        </p:txBody>
      </p:sp>
      <p:sp>
        <p:nvSpPr>
          <p:cNvPr id="10" name="Shape 8"/>
          <p:cNvSpPr/>
          <p:nvPr/>
        </p:nvSpPr>
        <p:spPr>
          <a:xfrm>
            <a:off x="8219237" y="1783080"/>
            <a:ext cx="3332378" cy="1371600"/>
          </a:xfrm>
          <a:prstGeom prst="roundRect">
            <a:avLst>
              <a:gd name="adj" fmla="val 6000"/>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1" name="Text 9"/>
          <p:cNvSpPr/>
          <p:nvPr/>
        </p:nvSpPr>
        <p:spPr>
          <a:xfrm>
            <a:off x="8402117" y="1984248"/>
            <a:ext cx="2966618" cy="658368"/>
          </a:xfrm>
          <a:prstGeom prst="rect">
            <a:avLst/>
          </a:prstGeom>
          <a:noFill/>
          <a:ln/>
        </p:spPr>
        <p:txBody>
          <a:bodyPr wrap="square" lIns="0" tIns="0" rIns="0" bIns="0" rtlCol="0" anchor="ctr"/>
          <a:lstStyle/>
          <a:p>
            <a:pPr algn="ctr" indent="0" marL="0">
              <a:buNone/>
            </a:pPr>
            <a:r>
              <a:rPr lang="en-US" sz="3400" b="1" dirty="0">
                <a:solidFill>
                  <a:srgbClr val="B26D14"/>
                </a:solidFill>
                <a:latin typeface="Courier New" pitchFamily="34" charset="0"/>
                <a:ea typeface="Courier New" pitchFamily="34" charset="-122"/>
                <a:cs typeface="Courier New" pitchFamily="34" charset="-120"/>
              </a:rPr>
              <a:t>~1¢</a:t>
            </a:r>
            <a:endParaRPr lang="en-US" sz="3400" dirty="0"/>
          </a:p>
        </p:txBody>
      </p:sp>
      <p:sp>
        <p:nvSpPr>
          <p:cNvPr id="12" name="Text 10"/>
          <p:cNvSpPr/>
          <p:nvPr/>
        </p:nvSpPr>
        <p:spPr>
          <a:xfrm>
            <a:off x="8493557" y="2651760"/>
            <a:ext cx="2783738" cy="457200"/>
          </a:xfrm>
          <a:prstGeom prst="rect">
            <a:avLst/>
          </a:prstGeom>
          <a:noFill/>
          <a:ln/>
        </p:spPr>
        <p:txBody>
          <a:bodyPr wrap="square" lIns="0" tIns="0" rIns="0" bIns="0" rtlCol="0" anchor="t"/>
          <a:lstStyle/>
          <a:p>
            <a:pPr algn="ctr" indent="0" marL="0">
              <a:lnSpc>
                <a:spcPct val="108000"/>
              </a:lnSpc>
              <a:buNone/>
            </a:pPr>
            <a:r>
              <a:rPr lang="en-US" sz="1200" dirty="0">
                <a:solidFill>
                  <a:srgbClr val="5B6472"/>
                </a:solidFill>
                <a:latin typeface="Calibri" pitchFamily="34" charset="0"/>
                <a:ea typeface="Calibri" pitchFamily="34" charset="-122"/>
                <a:cs typeface="Calibri" pitchFamily="34" charset="-120"/>
              </a:rPr>
              <a:t>per customer conversation</a:t>
            </a:r>
            <a:endParaRPr lang="en-US" sz="1200" dirty="0"/>
          </a:p>
        </p:txBody>
      </p:sp>
      <p:sp>
        <p:nvSpPr>
          <p:cNvPr id="13" name="Text 11"/>
          <p:cNvSpPr/>
          <p:nvPr/>
        </p:nvSpPr>
        <p:spPr>
          <a:xfrm>
            <a:off x="640080" y="3429000"/>
            <a:ext cx="5181448" cy="274320"/>
          </a:xfrm>
          <a:prstGeom prst="rect">
            <a:avLst/>
          </a:prstGeom>
          <a:noFill/>
          <a:ln/>
        </p:spPr>
        <p:txBody>
          <a:bodyPr wrap="square" lIns="0" tIns="0" rIns="0" bIns="0" rtlCol="0" anchor="ctr"/>
          <a:lstStyle/>
          <a:p>
            <a:pPr indent="0" marL="0">
              <a:buNone/>
            </a:pPr>
            <a:r>
              <a:rPr lang="en-US" sz="1100" b="1" spc="150" kern="0" dirty="0">
                <a:solidFill>
                  <a:srgbClr val="B26D14"/>
                </a:solidFill>
                <a:latin typeface="Courier New" pitchFamily="34" charset="0"/>
                <a:ea typeface="Courier New" pitchFamily="34" charset="-122"/>
                <a:cs typeface="Courier New" pitchFamily="34" charset="-120"/>
              </a:rPr>
              <a:t>MONTHLY OPERATING COST</a:t>
            </a:r>
            <a:endParaRPr lang="en-US" sz="1100" dirty="0"/>
          </a:p>
        </p:txBody>
      </p:sp>
      <p:sp>
        <p:nvSpPr>
          <p:cNvPr id="14" name="Text 12"/>
          <p:cNvSpPr/>
          <p:nvPr/>
        </p:nvSpPr>
        <p:spPr>
          <a:xfrm>
            <a:off x="640080" y="3886200"/>
            <a:ext cx="3809848" cy="320040"/>
          </a:xfrm>
          <a:prstGeom prst="rect">
            <a:avLst/>
          </a:prstGeom>
          <a:noFill/>
          <a:ln/>
        </p:spPr>
        <p:txBody>
          <a:bodyPr wrap="square" lIns="0" tIns="0" rIns="0" bIns="0" rtlCol="0" anchor="ctr"/>
          <a:lstStyle/>
          <a:p>
            <a:pPr indent="0" marL="0">
              <a:buNone/>
            </a:pPr>
            <a:r>
              <a:rPr lang="en-US" sz="1350" dirty="0">
                <a:solidFill>
                  <a:srgbClr val="1A1E26"/>
                </a:solidFill>
                <a:latin typeface="Calibri" pitchFamily="34" charset="0"/>
                <a:ea typeface="Calibri" pitchFamily="34" charset="-122"/>
                <a:cs typeface="Calibri" pitchFamily="34" charset="-120"/>
              </a:rPr>
              <a:t>1,000 chats / month</a:t>
            </a:r>
            <a:endParaRPr lang="en-US" sz="1350" dirty="0"/>
          </a:p>
        </p:txBody>
      </p:sp>
      <p:sp>
        <p:nvSpPr>
          <p:cNvPr id="15" name="Text 13"/>
          <p:cNvSpPr/>
          <p:nvPr/>
        </p:nvSpPr>
        <p:spPr>
          <a:xfrm>
            <a:off x="4449928" y="3886200"/>
            <a:ext cx="1371600" cy="320040"/>
          </a:xfrm>
          <a:prstGeom prst="rect">
            <a:avLst/>
          </a:prstGeom>
          <a:noFill/>
          <a:ln/>
        </p:spPr>
        <p:txBody>
          <a:bodyPr wrap="square" lIns="0" tIns="0" rIns="0" bIns="0" rtlCol="0" anchor="ctr"/>
          <a:lstStyle/>
          <a:p>
            <a:pPr algn="r" indent="0" marL="0">
              <a:buNone/>
            </a:pPr>
            <a:r>
              <a:rPr lang="en-US" sz="1400" b="1" dirty="0">
                <a:solidFill>
                  <a:srgbClr val="1A1E26"/>
                </a:solidFill>
                <a:latin typeface="Courier New" pitchFamily="34" charset="0"/>
                <a:ea typeface="Courier New" pitchFamily="34" charset="-122"/>
                <a:cs typeface="Courier New" pitchFamily="34" charset="-120"/>
              </a:rPr>
              <a:t>~$10</a:t>
            </a:r>
            <a:endParaRPr lang="en-US" sz="1400" dirty="0"/>
          </a:p>
        </p:txBody>
      </p:sp>
      <p:sp>
        <p:nvSpPr>
          <p:cNvPr id="16" name="Shape 14"/>
          <p:cNvSpPr/>
          <p:nvPr/>
        </p:nvSpPr>
        <p:spPr>
          <a:xfrm>
            <a:off x="640080" y="4251960"/>
            <a:ext cx="5181448" cy="0"/>
          </a:xfrm>
          <a:prstGeom prst="line">
            <a:avLst/>
          </a:prstGeom>
          <a:noFill/>
          <a:ln w="12700">
            <a:solidFill>
              <a:srgbClr val="E8ECF1"/>
            </a:solidFill>
            <a:prstDash val="solid"/>
          </a:ln>
        </p:spPr>
      </p:sp>
      <p:sp>
        <p:nvSpPr>
          <p:cNvPr id="17" name="Text 15"/>
          <p:cNvSpPr/>
          <p:nvPr/>
        </p:nvSpPr>
        <p:spPr>
          <a:xfrm>
            <a:off x="640080" y="4343400"/>
            <a:ext cx="3809848" cy="320040"/>
          </a:xfrm>
          <a:prstGeom prst="rect">
            <a:avLst/>
          </a:prstGeom>
          <a:noFill/>
          <a:ln/>
        </p:spPr>
        <p:txBody>
          <a:bodyPr wrap="square" lIns="0" tIns="0" rIns="0" bIns="0" rtlCol="0" anchor="ctr"/>
          <a:lstStyle/>
          <a:p>
            <a:pPr indent="0" marL="0">
              <a:buNone/>
            </a:pPr>
            <a:r>
              <a:rPr lang="en-US" sz="1350" dirty="0">
                <a:solidFill>
                  <a:srgbClr val="1A1E26"/>
                </a:solidFill>
                <a:latin typeface="Calibri" pitchFamily="34" charset="0"/>
                <a:ea typeface="Calibri" pitchFamily="34" charset="-122"/>
                <a:cs typeface="Calibri" pitchFamily="34" charset="-120"/>
              </a:rPr>
              <a:t>5,000 chats / month</a:t>
            </a:r>
            <a:endParaRPr lang="en-US" sz="1350" dirty="0"/>
          </a:p>
        </p:txBody>
      </p:sp>
      <p:sp>
        <p:nvSpPr>
          <p:cNvPr id="18" name="Text 16"/>
          <p:cNvSpPr/>
          <p:nvPr/>
        </p:nvSpPr>
        <p:spPr>
          <a:xfrm>
            <a:off x="4449928" y="4343400"/>
            <a:ext cx="1371600" cy="320040"/>
          </a:xfrm>
          <a:prstGeom prst="rect">
            <a:avLst/>
          </a:prstGeom>
          <a:noFill/>
          <a:ln/>
        </p:spPr>
        <p:txBody>
          <a:bodyPr wrap="square" lIns="0" tIns="0" rIns="0" bIns="0" rtlCol="0" anchor="ctr"/>
          <a:lstStyle/>
          <a:p>
            <a:pPr algn="r" indent="0" marL="0">
              <a:buNone/>
            </a:pPr>
            <a:r>
              <a:rPr lang="en-US" sz="1400" b="1" dirty="0">
                <a:solidFill>
                  <a:srgbClr val="1A1E26"/>
                </a:solidFill>
                <a:latin typeface="Courier New" pitchFamily="34" charset="0"/>
                <a:ea typeface="Courier New" pitchFamily="34" charset="-122"/>
                <a:cs typeface="Courier New" pitchFamily="34" charset="-120"/>
              </a:rPr>
              <a:t>~$50</a:t>
            </a:r>
            <a:endParaRPr lang="en-US" sz="1400" dirty="0"/>
          </a:p>
        </p:txBody>
      </p:sp>
      <p:sp>
        <p:nvSpPr>
          <p:cNvPr id="19" name="Shape 17"/>
          <p:cNvSpPr/>
          <p:nvPr/>
        </p:nvSpPr>
        <p:spPr>
          <a:xfrm>
            <a:off x="640080" y="4709160"/>
            <a:ext cx="5181448" cy="0"/>
          </a:xfrm>
          <a:prstGeom prst="line">
            <a:avLst/>
          </a:prstGeom>
          <a:noFill/>
          <a:ln w="12700">
            <a:solidFill>
              <a:srgbClr val="E8ECF1"/>
            </a:solidFill>
            <a:prstDash val="solid"/>
          </a:ln>
        </p:spPr>
      </p:sp>
      <p:sp>
        <p:nvSpPr>
          <p:cNvPr id="20" name="Text 18"/>
          <p:cNvSpPr/>
          <p:nvPr/>
        </p:nvSpPr>
        <p:spPr>
          <a:xfrm>
            <a:off x="640080" y="4800600"/>
            <a:ext cx="3809848" cy="320040"/>
          </a:xfrm>
          <a:prstGeom prst="rect">
            <a:avLst/>
          </a:prstGeom>
          <a:noFill/>
          <a:ln/>
        </p:spPr>
        <p:txBody>
          <a:bodyPr wrap="square" lIns="0" tIns="0" rIns="0" bIns="0" rtlCol="0" anchor="ctr"/>
          <a:lstStyle/>
          <a:p>
            <a:pPr indent="0" marL="0">
              <a:buNone/>
            </a:pPr>
            <a:r>
              <a:rPr lang="en-US" sz="1350" dirty="0">
                <a:solidFill>
                  <a:srgbClr val="1A1E26"/>
                </a:solidFill>
                <a:latin typeface="Calibri" pitchFamily="34" charset="0"/>
                <a:ea typeface="Calibri" pitchFamily="34" charset="-122"/>
                <a:cs typeface="Calibri" pitchFamily="34" charset="-120"/>
              </a:rPr>
              <a:t>20,000 chats / month</a:t>
            </a:r>
            <a:endParaRPr lang="en-US" sz="1350" dirty="0"/>
          </a:p>
        </p:txBody>
      </p:sp>
      <p:sp>
        <p:nvSpPr>
          <p:cNvPr id="21" name="Text 19"/>
          <p:cNvSpPr/>
          <p:nvPr/>
        </p:nvSpPr>
        <p:spPr>
          <a:xfrm>
            <a:off x="4449928" y="4800600"/>
            <a:ext cx="1371600" cy="320040"/>
          </a:xfrm>
          <a:prstGeom prst="rect">
            <a:avLst/>
          </a:prstGeom>
          <a:noFill/>
          <a:ln/>
        </p:spPr>
        <p:txBody>
          <a:bodyPr wrap="square" lIns="0" tIns="0" rIns="0" bIns="0" rtlCol="0" anchor="ctr"/>
          <a:lstStyle/>
          <a:p>
            <a:pPr algn="r" indent="0" marL="0">
              <a:buNone/>
            </a:pPr>
            <a:r>
              <a:rPr lang="en-US" sz="1400" b="1" dirty="0">
                <a:solidFill>
                  <a:srgbClr val="1A1E26"/>
                </a:solidFill>
                <a:latin typeface="Courier New" pitchFamily="34" charset="0"/>
                <a:ea typeface="Courier New" pitchFamily="34" charset="-122"/>
                <a:cs typeface="Courier New" pitchFamily="34" charset="-120"/>
              </a:rPr>
              <a:t>~$200</a:t>
            </a:r>
            <a:endParaRPr lang="en-US" sz="1400" dirty="0"/>
          </a:p>
        </p:txBody>
      </p:sp>
      <p:sp>
        <p:nvSpPr>
          <p:cNvPr id="22" name="Shape 20"/>
          <p:cNvSpPr/>
          <p:nvPr/>
        </p:nvSpPr>
        <p:spPr>
          <a:xfrm>
            <a:off x="640080" y="5166360"/>
            <a:ext cx="5181448" cy="0"/>
          </a:xfrm>
          <a:prstGeom prst="line">
            <a:avLst/>
          </a:prstGeom>
          <a:noFill/>
          <a:ln w="12700">
            <a:solidFill>
              <a:srgbClr val="E8ECF1"/>
            </a:solidFill>
            <a:prstDash val="solid"/>
          </a:ln>
        </p:spPr>
      </p:sp>
      <p:sp>
        <p:nvSpPr>
          <p:cNvPr id="23" name="Text 21"/>
          <p:cNvSpPr/>
          <p:nvPr/>
        </p:nvSpPr>
        <p:spPr>
          <a:xfrm>
            <a:off x="640080" y="5330952"/>
            <a:ext cx="5181448" cy="685800"/>
          </a:xfrm>
          <a:prstGeom prst="rect">
            <a:avLst/>
          </a:prstGeom>
          <a:noFill/>
          <a:ln/>
        </p:spPr>
        <p:txBody>
          <a:bodyPr wrap="square" lIns="0" tIns="0" rIns="0" bIns="0" rtlCol="0" anchor="t"/>
          <a:lstStyle/>
          <a:p>
            <a:pPr indent="0" marL="0">
              <a:lnSpc>
                <a:spcPct val="112000"/>
              </a:lnSpc>
              <a:buNone/>
            </a:pPr>
            <a:r>
              <a:rPr lang="en-US" sz="1150" i="1" dirty="0">
                <a:solidFill>
                  <a:srgbClr val="5B6472"/>
                </a:solidFill>
                <a:latin typeface="Calibri" pitchFamily="34" charset="0"/>
                <a:ea typeface="Calibri" pitchFamily="34" charset="-122"/>
                <a:cs typeface="Calibri" pitchFamily="34" charset="-120"/>
              </a:rPr>
              <a:t>+ ~$10–40/mo hosting (pilot) or ~$70–300 (production). Only ~3–4 MB of vectors — no heavy infrastructure needed.</a:t>
            </a:r>
            <a:endParaRPr lang="en-US" sz="1150" dirty="0"/>
          </a:p>
        </p:txBody>
      </p:sp>
      <p:sp>
        <p:nvSpPr>
          <p:cNvPr id="24" name="Text 22"/>
          <p:cNvSpPr/>
          <p:nvPr/>
        </p:nvSpPr>
        <p:spPr>
          <a:xfrm>
            <a:off x="6370168" y="3429000"/>
            <a:ext cx="5181448" cy="274320"/>
          </a:xfrm>
          <a:prstGeom prst="rect">
            <a:avLst/>
          </a:prstGeom>
          <a:noFill/>
          <a:ln/>
        </p:spPr>
        <p:txBody>
          <a:bodyPr wrap="square" lIns="0" tIns="0" rIns="0" bIns="0" rtlCol="0" anchor="ctr"/>
          <a:lstStyle/>
          <a:p>
            <a:pPr indent="0" marL="0">
              <a:buNone/>
            </a:pPr>
            <a:r>
              <a:rPr lang="en-US" sz="1100" b="1" spc="150" kern="0" dirty="0">
                <a:solidFill>
                  <a:srgbClr val="B26D14"/>
                </a:solidFill>
                <a:latin typeface="Courier New" pitchFamily="34" charset="0"/>
                <a:ea typeface="Courier New" pitchFamily="34" charset="-122"/>
                <a:cs typeface="Courier New" pitchFamily="34" charset="-120"/>
              </a:rPr>
              <a:t>THE ONE REAL COST — ENGINEERING</a:t>
            </a:r>
            <a:endParaRPr lang="en-US" sz="1100" dirty="0"/>
          </a:p>
        </p:txBody>
      </p:sp>
      <p:sp>
        <p:nvSpPr>
          <p:cNvPr id="25" name="Shape 23"/>
          <p:cNvSpPr/>
          <p:nvPr/>
        </p:nvSpPr>
        <p:spPr>
          <a:xfrm>
            <a:off x="6388456" y="3941064"/>
            <a:ext cx="201168" cy="201168"/>
          </a:xfrm>
          <a:prstGeom prst="ellipse">
            <a:avLst/>
          </a:prstGeom>
          <a:solidFill>
            <a:srgbClr val="B26D14"/>
          </a:solidFill>
          <a:ln/>
        </p:spPr>
      </p:sp>
      <p:sp>
        <p:nvSpPr>
          <p:cNvPr id="26" name="Text 24"/>
          <p:cNvSpPr/>
          <p:nvPr/>
        </p:nvSpPr>
        <p:spPr>
          <a:xfrm>
            <a:off x="6717640" y="3886200"/>
            <a:ext cx="4833976" cy="566928"/>
          </a:xfrm>
          <a:prstGeom prst="rect">
            <a:avLst/>
          </a:prstGeom>
          <a:noFill/>
          <a:ln/>
        </p:spPr>
        <p:txBody>
          <a:bodyPr wrap="square" lIns="0" tIns="0" rIns="0" bIns="0" rtlCol="0" anchor="t"/>
          <a:lstStyle/>
          <a:p>
            <a:pPr indent="0" marL="0">
              <a:lnSpc>
                <a:spcPct val="110000"/>
              </a:lnSpc>
              <a:buNone/>
            </a:pPr>
            <a:r>
              <a:rPr lang="en-US" sz="1350" b="1" dirty="0">
                <a:solidFill>
                  <a:srgbClr val="1A1E26"/>
                </a:solidFill>
                <a:latin typeface="Calibri" pitchFamily="34" charset="0"/>
                <a:ea typeface="Calibri" pitchFamily="34" charset="-122"/>
                <a:cs typeface="Calibri" pitchFamily="34" charset="-120"/>
              </a:rPr>
              <a:t>Harden for launch  —  </a:t>
            </a:r>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Phase 0 (auth, secrets, tests) — ~1–3 weeks, one engineer.</a:t>
            </a:r>
            <a:endParaRPr lang="en-US" sz="1350" dirty="0"/>
          </a:p>
        </p:txBody>
      </p:sp>
      <p:sp>
        <p:nvSpPr>
          <p:cNvPr id="27" name="Shape 25"/>
          <p:cNvSpPr/>
          <p:nvPr/>
        </p:nvSpPr>
        <p:spPr>
          <a:xfrm>
            <a:off x="6388456" y="4599432"/>
            <a:ext cx="201168" cy="201168"/>
          </a:xfrm>
          <a:prstGeom prst="ellipse">
            <a:avLst/>
          </a:prstGeom>
          <a:solidFill>
            <a:srgbClr val="B26D14"/>
          </a:solidFill>
          <a:ln/>
        </p:spPr>
      </p:sp>
      <p:sp>
        <p:nvSpPr>
          <p:cNvPr id="28" name="Text 26"/>
          <p:cNvSpPr/>
          <p:nvPr/>
        </p:nvSpPr>
        <p:spPr>
          <a:xfrm>
            <a:off x="6717640" y="4544568"/>
            <a:ext cx="4833976" cy="566928"/>
          </a:xfrm>
          <a:prstGeom prst="rect">
            <a:avLst/>
          </a:prstGeom>
          <a:noFill/>
          <a:ln/>
        </p:spPr>
        <p:txBody>
          <a:bodyPr wrap="square" lIns="0" tIns="0" rIns="0" bIns="0" rtlCol="0" anchor="t"/>
          <a:lstStyle/>
          <a:p>
            <a:pPr indent="0" marL="0">
              <a:lnSpc>
                <a:spcPct val="110000"/>
              </a:lnSpc>
              <a:buNone/>
            </a:pPr>
            <a:r>
              <a:rPr lang="en-US" sz="1350" b="1" dirty="0">
                <a:solidFill>
                  <a:srgbClr val="1A1E26"/>
                </a:solidFill>
                <a:latin typeface="Calibri" pitchFamily="34" charset="0"/>
                <a:ea typeface="Calibri" pitchFamily="34" charset="-122"/>
                <a:cs typeface="Calibri" pitchFamily="34" charset="-120"/>
              </a:rPr>
              <a:t>Maintenance  —  </a:t>
            </a:r>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A few hours / month, mostly scraper upkeep as the site changes.</a:t>
            </a:r>
            <a:endParaRPr lang="en-US" sz="1350" dirty="0"/>
          </a:p>
        </p:txBody>
      </p:sp>
      <p:sp>
        <p:nvSpPr>
          <p:cNvPr id="29" name="Shape 27"/>
          <p:cNvSpPr/>
          <p:nvPr/>
        </p:nvSpPr>
        <p:spPr>
          <a:xfrm>
            <a:off x="6388456" y="5257800"/>
            <a:ext cx="201168" cy="201168"/>
          </a:xfrm>
          <a:prstGeom prst="ellipse">
            <a:avLst/>
          </a:prstGeom>
          <a:solidFill>
            <a:srgbClr val="B26D14"/>
          </a:solidFill>
          <a:ln/>
        </p:spPr>
      </p:sp>
      <p:sp>
        <p:nvSpPr>
          <p:cNvPr id="30" name="Text 28"/>
          <p:cNvSpPr/>
          <p:nvPr/>
        </p:nvSpPr>
        <p:spPr>
          <a:xfrm>
            <a:off x="6717640" y="5202936"/>
            <a:ext cx="4833976" cy="566928"/>
          </a:xfrm>
          <a:prstGeom prst="rect">
            <a:avLst/>
          </a:prstGeom>
          <a:noFill/>
          <a:ln/>
        </p:spPr>
        <p:txBody>
          <a:bodyPr wrap="square" lIns="0" tIns="0" rIns="0" bIns="0" rtlCol="0" anchor="t"/>
          <a:lstStyle/>
          <a:p>
            <a:pPr indent="0" marL="0">
              <a:lnSpc>
                <a:spcPct val="110000"/>
              </a:lnSpc>
              <a:buNone/>
            </a:pPr>
            <a:r>
              <a:rPr lang="en-US" sz="1350" b="1" dirty="0">
                <a:solidFill>
                  <a:srgbClr val="1A1E26"/>
                </a:solidFill>
                <a:latin typeface="Calibri" pitchFamily="34" charset="0"/>
                <a:ea typeface="Calibri" pitchFamily="34" charset="-122"/>
                <a:cs typeface="Calibri" pitchFamily="34" charset="-120"/>
              </a:rPr>
              <a:t>Compliance  —  </a:t>
            </a:r>
            <a:pPr indent="0" marL="0">
              <a:lnSpc>
                <a:spcPct val="110000"/>
              </a:lnSpc>
              <a:buNone/>
            </a:pPr>
            <a:r>
              <a:rPr lang="en-US" sz="1300" dirty="0">
                <a:solidFill>
                  <a:srgbClr val="5B6472"/>
                </a:solidFill>
                <a:latin typeface="Calibri" pitchFamily="34" charset="0"/>
                <a:ea typeface="Calibri" pitchFamily="34" charset="-122"/>
                <a:cs typeface="Calibri" pitchFamily="34" charset="-120"/>
              </a:rPr>
              <a:t>A GDPR / data-handling review — EU-based Mistral helps.</a:t>
            </a:r>
            <a:endParaRPr lang="en-US" sz="1350" dirty="0"/>
          </a:p>
        </p:txBody>
      </p:sp>
      <p:sp>
        <p:nvSpPr>
          <p:cNvPr id="31" name="Text 29"/>
          <p:cNvSpPr/>
          <p:nvPr/>
        </p:nvSpPr>
        <p:spPr>
          <a:xfrm>
            <a:off x="640080" y="6080760"/>
            <a:ext cx="10911535" cy="457200"/>
          </a:xfrm>
          <a:prstGeom prst="rect">
            <a:avLst/>
          </a:prstGeom>
          <a:noFill/>
          <a:ln/>
        </p:spPr>
        <p:txBody>
          <a:bodyPr wrap="square" lIns="0" tIns="0" rIns="0" bIns="0" rtlCol="0" anchor="t"/>
          <a:lstStyle/>
          <a:p>
            <a:pPr indent="0" marL="0">
              <a:lnSpc>
                <a:spcPct val="110000"/>
              </a:lnSpc>
              <a:buNone/>
            </a:pPr>
            <a:r>
              <a:rPr lang="en-US" sz="1250" b="1" dirty="0">
                <a:solidFill>
                  <a:srgbClr val="1A1E26"/>
                </a:solidFill>
                <a:latin typeface="Calibri" pitchFamily="34" charset="0"/>
                <a:ea typeface="Calibri" pitchFamily="34" charset="-122"/>
                <a:cs typeface="Calibri" pitchFamily="34" charset="-120"/>
              </a:rPr>
              <a:t>Built-in cost control:  </a:t>
            </a:r>
            <a:pPr indent="0" marL="0">
              <a:lnSpc>
                <a:spcPct val="110000"/>
              </a:lnSpc>
              <a:buNone/>
            </a:pPr>
            <a:r>
              <a:rPr lang="en-US" sz="1250" dirty="0">
                <a:solidFill>
                  <a:srgbClr val="5B6472"/>
                </a:solidFill>
                <a:latin typeface="Calibri" pitchFamily="34" charset="0"/>
                <a:ea typeface="Calibri" pitchFamily="34" charset="-122"/>
                <a:cs typeface="Calibri" pitchFamily="34" charset="-120"/>
              </a:rPr>
              <a:t>cached suggestions, change-detection sync, and model routing (roadmap) can cut the per-chat cost several-fold.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ROADMAP</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From prototype to product.</a:t>
            </a:r>
            <a:endParaRPr lang="en-US" sz="3200" dirty="0"/>
          </a:p>
        </p:txBody>
      </p:sp>
      <p:sp>
        <p:nvSpPr>
          <p:cNvPr id="4" name="Shape 2"/>
          <p:cNvSpPr/>
          <p:nvPr/>
        </p:nvSpPr>
        <p:spPr>
          <a:xfrm>
            <a:off x="640080" y="1783080"/>
            <a:ext cx="566928" cy="566928"/>
          </a:xfrm>
          <a:prstGeom prst="ellipse">
            <a:avLst/>
          </a:prstGeom>
          <a:solidFill>
            <a:srgbClr val="B26D14"/>
          </a:solidFill>
          <a:ln w="19050">
            <a:solidFill>
              <a:srgbClr val="B26D14"/>
            </a:solidFill>
            <a:prstDash val="solid"/>
          </a:ln>
        </p:spPr>
      </p:sp>
      <p:sp>
        <p:nvSpPr>
          <p:cNvPr id="5" name="Text 3"/>
          <p:cNvSpPr/>
          <p:nvPr/>
        </p:nvSpPr>
        <p:spPr>
          <a:xfrm>
            <a:off x="640080"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0</a:t>
            </a:r>
            <a:endParaRPr lang="en-US" sz="2000" dirty="0"/>
          </a:p>
        </p:txBody>
      </p:sp>
      <p:sp>
        <p:nvSpPr>
          <p:cNvPr id="6" name="Shape 4"/>
          <p:cNvSpPr/>
          <p:nvPr/>
        </p:nvSpPr>
        <p:spPr>
          <a:xfrm>
            <a:off x="923544" y="2350008"/>
            <a:ext cx="0" cy="292608"/>
          </a:xfrm>
          <a:prstGeom prst="line">
            <a:avLst/>
          </a:prstGeom>
          <a:noFill/>
          <a:ln w="19050">
            <a:solidFill>
              <a:srgbClr val="D7DDE5"/>
            </a:solidFill>
            <a:prstDash val="solid"/>
          </a:ln>
        </p:spPr>
      </p:sp>
      <p:sp>
        <p:nvSpPr>
          <p:cNvPr id="7" name="Text 5"/>
          <p:cNvSpPr/>
          <p:nvPr/>
        </p:nvSpPr>
        <p:spPr>
          <a:xfrm>
            <a:off x="1508760" y="1764792"/>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Harden for real traffic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FOUNDATIONAL</a:t>
            </a:r>
            <a:endParaRPr lang="en-US" sz="1600" dirty="0"/>
          </a:p>
        </p:txBody>
      </p:sp>
      <p:sp>
        <p:nvSpPr>
          <p:cNvPr id="8" name="Text 6"/>
          <p:cNvSpPr/>
          <p:nvPr/>
        </p:nvSpPr>
        <p:spPr>
          <a:xfrm>
            <a:off x="1508760" y="2112264"/>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Auth, secret handling, non-blocking I/O, rate limits, tests.</a:t>
            </a:r>
            <a:endParaRPr lang="en-US" sz="1300" dirty="0"/>
          </a:p>
        </p:txBody>
      </p:sp>
      <p:sp>
        <p:nvSpPr>
          <p:cNvPr id="9" name="Shape 7"/>
          <p:cNvSpPr/>
          <p:nvPr/>
        </p:nvSpPr>
        <p:spPr>
          <a:xfrm>
            <a:off x="640080" y="2642616"/>
            <a:ext cx="566928" cy="566928"/>
          </a:xfrm>
          <a:prstGeom prst="ellipse">
            <a:avLst/>
          </a:prstGeom>
          <a:solidFill>
            <a:srgbClr val="FFFFFF"/>
          </a:solidFill>
          <a:ln w="19050">
            <a:solidFill>
              <a:srgbClr val="B26D14"/>
            </a:solidFill>
            <a:prstDash val="solid"/>
          </a:ln>
        </p:spPr>
      </p:sp>
      <p:sp>
        <p:nvSpPr>
          <p:cNvPr id="10" name="Text 8"/>
          <p:cNvSpPr/>
          <p:nvPr/>
        </p:nvSpPr>
        <p:spPr>
          <a:xfrm>
            <a:off x="640080" y="2642616"/>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1</a:t>
            </a:r>
            <a:endParaRPr lang="en-US" sz="2000" dirty="0"/>
          </a:p>
        </p:txBody>
      </p:sp>
      <p:sp>
        <p:nvSpPr>
          <p:cNvPr id="11" name="Shape 9"/>
          <p:cNvSpPr/>
          <p:nvPr/>
        </p:nvSpPr>
        <p:spPr>
          <a:xfrm>
            <a:off x="923544" y="3209544"/>
            <a:ext cx="0" cy="292608"/>
          </a:xfrm>
          <a:prstGeom prst="line">
            <a:avLst/>
          </a:prstGeom>
          <a:noFill/>
          <a:ln w="19050">
            <a:solidFill>
              <a:srgbClr val="D7DDE5"/>
            </a:solidFill>
            <a:prstDash val="solid"/>
          </a:ln>
        </p:spPr>
      </p:sp>
      <p:sp>
        <p:nvSpPr>
          <p:cNvPr id="12" name="Text 10"/>
          <p:cNvSpPr/>
          <p:nvPr/>
        </p:nvSpPr>
        <p:spPr>
          <a:xfrm>
            <a:off x="1508760" y="2624328"/>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Retrieval quality &amp; evaluation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QUALITY</a:t>
            </a:r>
            <a:endParaRPr lang="en-US" sz="1600" dirty="0"/>
          </a:p>
        </p:txBody>
      </p:sp>
      <p:sp>
        <p:nvSpPr>
          <p:cNvPr id="13" name="Text 11"/>
          <p:cNvSpPr/>
          <p:nvPr/>
        </p:nvSpPr>
        <p:spPr>
          <a:xfrm>
            <a:off x="1508760" y="2971800"/>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Hybrid search, filters, re-ranker — and metrics to prove it.</a:t>
            </a:r>
            <a:endParaRPr lang="en-US" sz="1300" dirty="0"/>
          </a:p>
        </p:txBody>
      </p:sp>
      <p:sp>
        <p:nvSpPr>
          <p:cNvPr id="14" name="Shape 12"/>
          <p:cNvSpPr/>
          <p:nvPr/>
        </p:nvSpPr>
        <p:spPr>
          <a:xfrm>
            <a:off x="640080" y="3502152"/>
            <a:ext cx="566928" cy="566928"/>
          </a:xfrm>
          <a:prstGeom prst="ellipse">
            <a:avLst/>
          </a:prstGeom>
          <a:solidFill>
            <a:srgbClr val="FFFFFF"/>
          </a:solidFill>
          <a:ln w="19050">
            <a:solidFill>
              <a:srgbClr val="B26D14"/>
            </a:solidFill>
            <a:prstDash val="solid"/>
          </a:ln>
        </p:spPr>
      </p:sp>
      <p:sp>
        <p:nvSpPr>
          <p:cNvPr id="15" name="Text 13"/>
          <p:cNvSpPr/>
          <p:nvPr/>
        </p:nvSpPr>
        <p:spPr>
          <a:xfrm>
            <a:off x="640080" y="3502152"/>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2</a:t>
            </a:r>
            <a:endParaRPr lang="en-US" sz="2000" dirty="0"/>
          </a:p>
        </p:txBody>
      </p:sp>
      <p:sp>
        <p:nvSpPr>
          <p:cNvPr id="16" name="Shape 14"/>
          <p:cNvSpPr/>
          <p:nvPr/>
        </p:nvSpPr>
        <p:spPr>
          <a:xfrm>
            <a:off x="923544" y="4069080"/>
            <a:ext cx="0" cy="292608"/>
          </a:xfrm>
          <a:prstGeom prst="line">
            <a:avLst/>
          </a:prstGeom>
          <a:noFill/>
          <a:ln w="19050">
            <a:solidFill>
              <a:srgbClr val="D7DDE5"/>
            </a:solidFill>
            <a:prstDash val="solid"/>
          </a:ln>
        </p:spPr>
      </p:sp>
      <p:sp>
        <p:nvSpPr>
          <p:cNvPr id="17" name="Text 15"/>
          <p:cNvSpPr/>
          <p:nvPr/>
        </p:nvSpPr>
        <p:spPr>
          <a:xfrm>
            <a:off x="1508760" y="3483864"/>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Conversational UX &amp; speed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EXPERIENCE</a:t>
            </a:r>
            <a:endParaRPr lang="en-US" sz="1600" dirty="0"/>
          </a:p>
        </p:txBody>
      </p:sp>
      <p:sp>
        <p:nvSpPr>
          <p:cNvPr id="18" name="Text 16"/>
          <p:cNvSpPr/>
          <p:nvPr/>
        </p:nvSpPr>
        <p:spPr>
          <a:xfrm>
            <a:off x="1508760" y="3831336"/>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Memory, streaming replies, model routing, feedback.</a:t>
            </a:r>
            <a:endParaRPr lang="en-US" sz="1300" dirty="0"/>
          </a:p>
        </p:txBody>
      </p:sp>
      <p:sp>
        <p:nvSpPr>
          <p:cNvPr id="19" name="Shape 17"/>
          <p:cNvSpPr/>
          <p:nvPr/>
        </p:nvSpPr>
        <p:spPr>
          <a:xfrm>
            <a:off x="640080" y="4361688"/>
            <a:ext cx="566928" cy="566928"/>
          </a:xfrm>
          <a:prstGeom prst="ellipse">
            <a:avLst/>
          </a:prstGeom>
          <a:solidFill>
            <a:srgbClr val="FFFFFF"/>
          </a:solidFill>
          <a:ln w="19050">
            <a:solidFill>
              <a:srgbClr val="B26D14"/>
            </a:solidFill>
            <a:prstDash val="solid"/>
          </a:ln>
        </p:spPr>
      </p:sp>
      <p:sp>
        <p:nvSpPr>
          <p:cNvPr id="20" name="Text 18"/>
          <p:cNvSpPr/>
          <p:nvPr/>
        </p:nvSpPr>
        <p:spPr>
          <a:xfrm>
            <a:off x="640080" y="4361688"/>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3</a:t>
            </a:r>
            <a:endParaRPr lang="en-US" sz="2000" dirty="0"/>
          </a:p>
        </p:txBody>
      </p:sp>
      <p:sp>
        <p:nvSpPr>
          <p:cNvPr id="21" name="Shape 19"/>
          <p:cNvSpPr/>
          <p:nvPr/>
        </p:nvSpPr>
        <p:spPr>
          <a:xfrm>
            <a:off x="923544" y="4928616"/>
            <a:ext cx="0" cy="292608"/>
          </a:xfrm>
          <a:prstGeom prst="line">
            <a:avLst/>
          </a:prstGeom>
          <a:noFill/>
          <a:ln w="19050">
            <a:solidFill>
              <a:srgbClr val="D7DDE5"/>
            </a:solidFill>
            <a:prstDash val="solid"/>
          </a:ln>
        </p:spPr>
      </p:sp>
      <p:sp>
        <p:nvSpPr>
          <p:cNvPr id="22" name="Text 20"/>
          <p:cNvSpPr/>
          <p:nvPr/>
        </p:nvSpPr>
        <p:spPr>
          <a:xfrm>
            <a:off x="1508760" y="4343400"/>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Production platform &amp; scale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SCALE</a:t>
            </a:r>
            <a:endParaRPr lang="en-US" sz="1600" dirty="0"/>
          </a:p>
        </p:txBody>
      </p:sp>
      <p:sp>
        <p:nvSpPr>
          <p:cNvPr id="23" name="Text 21"/>
          <p:cNvSpPr/>
          <p:nvPr/>
        </p:nvSpPr>
        <p:spPr>
          <a:xfrm>
            <a:off x="1508760" y="4690872"/>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Server-grade stores, live price/stock, observability.</a:t>
            </a:r>
            <a:endParaRPr lang="en-US" sz="1300" dirty="0"/>
          </a:p>
        </p:txBody>
      </p:sp>
      <p:sp>
        <p:nvSpPr>
          <p:cNvPr id="24" name="Shape 22"/>
          <p:cNvSpPr/>
          <p:nvPr/>
        </p:nvSpPr>
        <p:spPr>
          <a:xfrm>
            <a:off x="640080" y="5221224"/>
            <a:ext cx="566928" cy="566928"/>
          </a:xfrm>
          <a:prstGeom prst="ellipse">
            <a:avLst/>
          </a:prstGeom>
          <a:solidFill>
            <a:srgbClr val="FFFFFF"/>
          </a:solidFill>
          <a:ln w="19050">
            <a:solidFill>
              <a:srgbClr val="B26D14"/>
            </a:solidFill>
            <a:prstDash val="solid"/>
          </a:ln>
        </p:spPr>
      </p:sp>
      <p:sp>
        <p:nvSpPr>
          <p:cNvPr id="25" name="Text 23"/>
          <p:cNvSpPr/>
          <p:nvPr/>
        </p:nvSpPr>
        <p:spPr>
          <a:xfrm>
            <a:off x="640080" y="5221224"/>
            <a:ext cx="566928" cy="566928"/>
          </a:xfrm>
          <a:prstGeom prst="rect">
            <a:avLst/>
          </a:prstGeom>
          <a:noFill/>
          <a:ln/>
        </p:spPr>
        <p:txBody>
          <a:bodyPr wrap="square" lIns="0" tIns="0" rIns="0" bIns="0" rtlCol="0" anchor="ctr"/>
          <a:lstStyle/>
          <a:p>
            <a:pPr algn="ctr" indent="0" marL="0">
              <a:buNone/>
            </a:pPr>
            <a:r>
              <a:rPr lang="en-US" sz="2000" b="1" dirty="0">
                <a:solidFill>
                  <a:srgbClr val="B26D14"/>
                </a:solidFill>
                <a:latin typeface="Courier New" pitchFamily="34" charset="0"/>
                <a:ea typeface="Courier New" pitchFamily="34" charset="-122"/>
                <a:cs typeface="Courier New" pitchFamily="34" charset="-120"/>
              </a:rPr>
              <a:t>4</a:t>
            </a:r>
            <a:endParaRPr lang="en-US" sz="2000" dirty="0"/>
          </a:p>
        </p:txBody>
      </p:sp>
      <p:sp>
        <p:nvSpPr>
          <p:cNvPr id="26" name="Text 24"/>
          <p:cNvSpPr/>
          <p:nvPr/>
        </p:nvSpPr>
        <p:spPr>
          <a:xfrm>
            <a:off x="1508760" y="5202936"/>
            <a:ext cx="10042855" cy="365760"/>
          </a:xfrm>
          <a:prstGeom prst="rect">
            <a:avLst/>
          </a:prstGeom>
          <a:noFill/>
          <a:ln/>
        </p:spPr>
        <p:txBody>
          <a:bodyPr wrap="square" lIns="0" tIns="0" rIns="0" bIns="0" rtlCol="0" anchor="ctr"/>
          <a:lstStyle/>
          <a:p>
            <a:pPr indent="0" marL="0">
              <a:buNone/>
            </a:pPr>
            <a:r>
              <a:rPr lang="en-US" sz="1600" b="1" dirty="0">
                <a:solidFill>
                  <a:srgbClr val="1A1E26"/>
                </a:solidFill>
                <a:latin typeface="Arial" pitchFamily="34" charset="0"/>
                <a:ea typeface="Arial" pitchFamily="34" charset="-122"/>
                <a:cs typeface="Arial" pitchFamily="34" charset="-120"/>
              </a:rPr>
              <a:t>Personalization &amp; merchandising    </a:t>
            </a:r>
            <a:pPr indent="0" marL="0">
              <a:buNone/>
            </a:pPr>
            <a:r>
              <a:rPr lang="en-US" sz="950" b="1" spc="100" kern="0" dirty="0">
                <a:solidFill>
                  <a:srgbClr val="B26D14"/>
                </a:solidFill>
                <a:latin typeface="Courier New" pitchFamily="34" charset="0"/>
                <a:ea typeface="Courier New" pitchFamily="34" charset="-122"/>
                <a:cs typeface="Courier New" pitchFamily="34" charset="-120"/>
              </a:rPr>
              <a:t>GROWTH</a:t>
            </a:r>
            <a:endParaRPr lang="en-US" sz="1600" dirty="0"/>
          </a:p>
        </p:txBody>
      </p:sp>
      <p:sp>
        <p:nvSpPr>
          <p:cNvPr id="27" name="Text 25"/>
          <p:cNvSpPr/>
          <p:nvPr/>
        </p:nvSpPr>
        <p:spPr>
          <a:xfrm>
            <a:off x="1508760" y="5550408"/>
            <a:ext cx="10042855" cy="36576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Business rules, A/B testing, embeddable widget SDK.</a:t>
            </a:r>
            <a:endParaRPr lang="en-US" sz="1300" dirty="0"/>
          </a:p>
        </p:txBody>
      </p:sp>
      <p:sp>
        <p:nvSpPr>
          <p:cNvPr id="28" name="Text 26"/>
          <p:cNvSpPr/>
          <p:nvPr/>
        </p:nvSpPr>
        <p:spPr>
          <a:xfrm>
            <a:off x="640080" y="6172200"/>
            <a:ext cx="10911535" cy="365760"/>
          </a:xfrm>
          <a:prstGeom prst="rect">
            <a:avLst/>
          </a:prstGeom>
          <a:noFill/>
          <a:ln/>
        </p:spPr>
        <p:txBody>
          <a:bodyPr wrap="square" lIns="0" tIns="0" rIns="0" bIns="0" rtlCol="0" anchor="ctr"/>
          <a:lstStyle/>
          <a:p>
            <a:pPr indent="0" marL="0">
              <a:buNone/>
            </a:pPr>
            <a:r>
              <a:rPr lang="en-US" sz="1300" i="1" dirty="0">
                <a:solidFill>
                  <a:srgbClr val="1A1E26"/>
                </a:solidFill>
                <a:latin typeface="Calibri" pitchFamily="34" charset="0"/>
                <a:ea typeface="Calibri" pitchFamily="34" charset="-122"/>
                <a:cs typeface="Calibri" pitchFamily="34" charset="-120"/>
              </a:rPr>
              <a:t>Ordered by dependency: harden, then measure quality, then polish experience, then scale, then grow revenue.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10911535" cy="274320"/>
          </a:xfrm>
          <a:prstGeom prst="rect">
            <a:avLst/>
          </a:prstGeom>
          <a:noFill/>
          <a:ln/>
        </p:spPr>
        <p:txBody>
          <a:bodyPr wrap="square" lIns="0" tIns="0" rIns="0" bIns="0" rtlCol="0" anchor="ctr"/>
          <a:lstStyle/>
          <a:p>
            <a:pPr algn="l" indent="0" marL="0">
              <a:buNone/>
            </a:pPr>
            <a:r>
              <a:rPr lang="en-US" sz="1150" b="1" spc="300" kern="0" dirty="0">
                <a:solidFill>
                  <a:srgbClr val="B26D14"/>
                </a:solidFill>
                <a:latin typeface="Courier New" pitchFamily="34" charset="0"/>
                <a:ea typeface="Courier New" pitchFamily="34" charset="-122"/>
                <a:cs typeface="Courier New" pitchFamily="34" charset="-120"/>
              </a:rPr>
              <a:t>HARD QUESTIONS, ANSWERED</a:t>
            </a:r>
            <a:endParaRPr lang="en-US" sz="1150" dirty="0"/>
          </a:p>
        </p:txBody>
      </p:sp>
      <p:sp>
        <p:nvSpPr>
          <p:cNvPr id="3" name="Text 1"/>
          <p:cNvSpPr/>
          <p:nvPr/>
        </p:nvSpPr>
        <p:spPr>
          <a:xfrm>
            <a:off x="640080" y="868680"/>
            <a:ext cx="10911535" cy="731520"/>
          </a:xfrm>
          <a:prstGeom prst="rect">
            <a:avLst/>
          </a:prstGeom>
          <a:noFill/>
          <a:ln/>
        </p:spPr>
        <p:txBody>
          <a:bodyPr wrap="square" lIns="0" tIns="0" rIns="0" bIns="0" rtlCol="0" anchor="ctr"/>
          <a:lstStyle/>
          <a:p>
            <a:pPr indent="0" marL="0">
              <a:buNone/>
            </a:pPr>
            <a:r>
              <a:rPr lang="en-US" sz="3200" b="1" dirty="0">
                <a:solidFill>
                  <a:srgbClr val="1A1E26"/>
                </a:solidFill>
                <a:latin typeface="Arial" pitchFamily="34" charset="0"/>
                <a:ea typeface="Arial" pitchFamily="34" charset="-122"/>
                <a:cs typeface="Arial" pitchFamily="34" charset="-120"/>
              </a:rPr>
              <a:t>Defending the approach.</a:t>
            </a:r>
            <a:endParaRPr lang="en-US" sz="3200" dirty="0"/>
          </a:p>
        </p:txBody>
      </p:sp>
      <p:sp>
        <p:nvSpPr>
          <p:cNvPr id="4" name="Shape 2"/>
          <p:cNvSpPr/>
          <p:nvPr/>
        </p:nvSpPr>
        <p:spPr>
          <a:xfrm>
            <a:off x="640080" y="196596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5" name="Text 3"/>
          <p:cNvSpPr/>
          <p:nvPr/>
        </p:nvSpPr>
        <p:spPr>
          <a:xfrm>
            <a:off x="1005840" y="224028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“Isn't this just a chatbot?”</a:t>
            </a:r>
            <a:endParaRPr lang="en-US" sz="1650" dirty="0"/>
          </a:p>
        </p:txBody>
      </p:sp>
      <p:sp>
        <p:nvSpPr>
          <p:cNvPr id="6" name="Text 4"/>
          <p:cNvSpPr/>
          <p:nvPr/>
        </p:nvSpPr>
        <p:spPr>
          <a:xfrm>
            <a:off x="1005840" y="280720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No — it's grounded retrieval. It only speaks about products it actually found in your catalog, with prices from your database.</a:t>
            </a:r>
            <a:endParaRPr lang="en-US" sz="1300" dirty="0"/>
          </a:p>
        </p:txBody>
      </p:sp>
      <p:sp>
        <p:nvSpPr>
          <p:cNvPr id="7" name="Shape 5"/>
          <p:cNvSpPr/>
          <p:nvPr/>
        </p:nvSpPr>
        <p:spPr>
          <a:xfrm>
            <a:off x="6324448" y="196596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8" name="Text 6"/>
          <p:cNvSpPr/>
          <p:nvPr/>
        </p:nvSpPr>
        <p:spPr>
          <a:xfrm>
            <a:off x="6690208" y="224028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“What if it hallucinates a product?”</a:t>
            </a:r>
            <a:endParaRPr lang="en-US" sz="1650" dirty="0"/>
          </a:p>
        </p:txBody>
      </p:sp>
      <p:sp>
        <p:nvSpPr>
          <p:cNvPr id="9" name="Text 7"/>
          <p:cNvSpPr/>
          <p:nvPr/>
        </p:nvSpPr>
        <p:spPr>
          <a:xfrm>
            <a:off x="6690208" y="280720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It can't reach the customer. The ID guardrail removes anything not retrieved before the answer is sent.</a:t>
            </a:r>
            <a:endParaRPr lang="en-US" sz="1300" dirty="0"/>
          </a:p>
        </p:txBody>
      </p:sp>
      <p:sp>
        <p:nvSpPr>
          <p:cNvPr id="10" name="Shape 8"/>
          <p:cNvSpPr/>
          <p:nvPr/>
        </p:nvSpPr>
        <p:spPr>
          <a:xfrm>
            <a:off x="640080" y="411480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1" name="Text 9"/>
          <p:cNvSpPr/>
          <p:nvPr/>
        </p:nvSpPr>
        <p:spPr>
          <a:xfrm>
            <a:off x="1005840" y="438912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“Why not just use the site's search?”</a:t>
            </a:r>
            <a:endParaRPr lang="en-US" sz="1650" dirty="0"/>
          </a:p>
        </p:txBody>
      </p:sp>
      <p:sp>
        <p:nvSpPr>
          <p:cNvPr id="12" name="Text 10"/>
          <p:cNvSpPr/>
          <p:nvPr/>
        </p:nvSpPr>
        <p:spPr>
          <a:xfrm>
            <a:off x="1005840" y="495604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Keyword search fails on intent and jargon. This matches meaning across German and English phrasing.</a:t>
            </a:r>
            <a:endParaRPr lang="en-US" sz="1300" dirty="0"/>
          </a:p>
        </p:txBody>
      </p:sp>
      <p:sp>
        <p:nvSpPr>
          <p:cNvPr id="13" name="Shape 11"/>
          <p:cNvSpPr/>
          <p:nvPr/>
        </p:nvSpPr>
        <p:spPr>
          <a:xfrm>
            <a:off x="6324448" y="4114800"/>
            <a:ext cx="5227168" cy="1783080"/>
          </a:xfrm>
          <a:prstGeom prst="roundRect">
            <a:avLst>
              <a:gd name="adj" fmla="val 4615"/>
            </a:avLst>
          </a:prstGeom>
          <a:solidFill>
            <a:srgbClr val="F2F4F7"/>
          </a:solidFill>
          <a:ln w="12700">
            <a:solidFill>
              <a:srgbClr val="D7DDE5"/>
            </a:solidFill>
            <a:prstDash val="solid"/>
          </a:ln>
          <a:effectLst>
            <a:outerShdw sx="100000" sy="100000" kx="0" ky="0" algn="bl" rotWithShape="0" blurRad="127000" dist="38100" dir="5400000">
              <a:srgbClr val="1A1E26">
                <a:alpha val="18000"/>
              </a:srgbClr>
            </a:outerShdw>
          </a:effectLst>
        </p:spPr>
      </p:sp>
      <p:sp>
        <p:nvSpPr>
          <p:cNvPr id="14" name="Text 12"/>
          <p:cNvSpPr/>
          <p:nvPr/>
        </p:nvSpPr>
        <p:spPr>
          <a:xfrm>
            <a:off x="6690208" y="4389120"/>
            <a:ext cx="4495648" cy="548640"/>
          </a:xfrm>
          <a:prstGeom prst="rect">
            <a:avLst/>
          </a:prstGeom>
          <a:noFill/>
          <a:ln/>
        </p:spPr>
        <p:txBody>
          <a:bodyPr wrap="square" lIns="0" tIns="0" rIns="0" bIns="0" rtlCol="0" anchor="t"/>
          <a:lstStyle/>
          <a:p>
            <a:pPr indent="0" marL="0">
              <a:buNone/>
            </a:pPr>
            <a:r>
              <a:rPr lang="en-US" sz="1650" b="1" dirty="0">
                <a:solidFill>
                  <a:srgbClr val="1A1E26"/>
                </a:solidFill>
                <a:latin typeface="Arial" pitchFamily="34" charset="0"/>
                <a:ea typeface="Arial" pitchFamily="34" charset="-122"/>
                <a:cs typeface="Arial" pitchFamily="34" charset="-120"/>
              </a:rPr>
              <a:t>“Isn't running an LLM expensive?”</a:t>
            </a:r>
            <a:endParaRPr lang="en-US" sz="1650" dirty="0"/>
          </a:p>
        </p:txBody>
      </p:sp>
      <p:sp>
        <p:nvSpPr>
          <p:cNvPr id="15" name="Text 13"/>
          <p:cNvSpPr/>
          <p:nvPr/>
        </p:nvSpPr>
        <p:spPr>
          <a:xfrm>
            <a:off x="6690208" y="4956048"/>
            <a:ext cx="4495648" cy="822960"/>
          </a:xfrm>
          <a:prstGeom prst="rect">
            <a:avLst/>
          </a:prstGeom>
          <a:noFill/>
          <a:ln/>
        </p:spPr>
        <p:txBody>
          <a:bodyPr wrap="square" lIns="0" tIns="0" rIns="0" bIns="0" rtlCol="0" anchor="t"/>
          <a:lstStyle/>
          <a:p>
            <a:pPr indent="0" marL="0">
              <a:lnSpc>
                <a:spcPct val="115000"/>
              </a:lnSpc>
              <a:buNone/>
            </a:pPr>
            <a:r>
              <a:rPr lang="en-US" sz="1300" dirty="0">
                <a:solidFill>
                  <a:srgbClr val="5B6472"/>
                </a:solidFill>
                <a:latin typeface="Calibri" pitchFamily="34" charset="0"/>
                <a:ea typeface="Calibri" pitchFamily="34" charset="-122"/>
                <a:cs typeface="Calibri" pitchFamily="34" charset="-120"/>
              </a:rPr>
              <a:t>Costs are contained by design: cached suggestions, change-detection sync, and model routing on the roadmap.</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51C"/>
        </a:solidFill>
      </p:bgPr>
    </p:bg>
    <p:spTree>
      <p:nvGrpSpPr>
        <p:cNvPr id="1" name=""/>
        <p:cNvGrpSpPr/>
        <p:nvPr/>
      </p:nvGrpSpPr>
      <p:grpSpPr>
        <a:xfrm>
          <a:off x="0" y="0"/>
          <a:ext cx="0" cy="0"/>
          <a:chOff x="0" y="0"/>
          <a:chExt cx="0" cy="0"/>
        </a:xfrm>
      </p:grpSpPr>
      <p:sp>
        <p:nvSpPr>
          <p:cNvPr id="2" name="Shape 0"/>
          <p:cNvSpPr/>
          <p:nvPr/>
        </p:nvSpPr>
        <p:spPr>
          <a:xfrm flipV="1">
            <a:off x="8366760" y="868680"/>
            <a:ext cx="1371600" cy="365760"/>
          </a:xfrm>
          <a:prstGeom prst="line">
            <a:avLst/>
          </a:prstGeom>
          <a:noFill/>
          <a:ln w="9525">
            <a:solidFill>
              <a:srgbClr val="9AA4B2">
                <a:alpha val="38000"/>
              </a:srgbClr>
            </a:solidFill>
            <a:prstDash val="solid"/>
          </a:ln>
        </p:spPr>
      </p:sp>
      <p:sp>
        <p:nvSpPr>
          <p:cNvPr id="3" name="Shape 1"/>
          <p:cNvSpPr/>
          <p:nvPr/>
        </p:nvSpPr>
        <p:spPr>
          <a:xfrm>
            <a:off x="9738360" y="868680"/>
            <a:ext cx="1188720" cy="731520"/>
          </a:xfrm>
          <a:prstGeom prst="line">
            <a:avLst/>
          </a:prstGeom>
          <a:noFill/>
          <a:ln w="9525">
            <a:solidFill>
              <a:srgbClr val="9AA4B2">
                <a:alpha val="38000"/>
              </a:srgbClr>
            </a:solidFill>
            <a:prstDash val="solid"/>
          </a:ln>
        </p:spPr>
      </p:sp>
      <p:sp>
        <p:nvSpPr>
          <p:cNvPr id="4" name="Shape 2"/>
          <p:cNvSpPr/>
          <p:nvPr/>
        </p:nvSpPr>
        <p:spPr>
          <a:xfrm flipV="1">
            <a:off x="9281160" y="868680"/>
            <a:ext cx="457200" cy="1371600"/>
          </a:xfrm>
          <a:prstGeom prst="line">
            <a:avLst/>
          </a:prstGeom>
          <a:noFill/>
          <a:ln w="9525">
            <a:solidFill>
              <a:srgbClr val="9AA4B2">
                <a:alpha val="38000"/>
              </a:srgbClr>
            </a:solidFill>
            <a:prstDash val="solid"/>
          </a:ln>
        </p:spPr>
      </p:sp>
      <p:sp>
        <p:nvSpPr>
          <p:cNvPr id="5" name="Shape 3"/>
          <p:cNvSpPr/>
          <p:nvPr/>
        </p:nvSpPr>
        <p:spPr>
          <a:xfrm>
            <a:off x="9281160" y="2240280"/>
            <a:ext cx="822960" cy="1097280"/>
          </a:xfrm>
          <a:prstGeom prst="line">
            <a:avLst/>
          </a:prstGeom>
          <a:noFill/>
          <a:ln w="9525">
            <a:solidFill>
              <a:srgbClr val="9AA4B2">
                <a:alpha val="38000"/>
              </a:srgbClr>
            </a:solidFill>
            <a:prstDash val="solid"/>
          </a:ln>
        </p:spPr>
      </p:sp>
      <p:sp>
        <p:nvSpPr>
          <p:cNvPr id="6" name="Shape 4"/>
          <p:cNvSpPr/>
          <p:nvPr/>
        </p:nvSpPr>
        <p:spPr>
          <a:xfrm>
            <a:off x="10927080" y="1600200"/>
            <a:ext cx="457200" cy="1188720"/>
          </a:xfrm>
          <a:prstGeom prst="line">
            <a:avLst/>
          </a:prstGeom>
          <a:noFill/>
          <a:ln w="9525">
            <a:solidFill>
              <a:srgbClr val="9AA4B2">
                <a:alpha val="38000"/>
              </a:srgbClr>
            </a:solidFill>
            <a:prstDash val="solid"/>
          </a:ln>
        </p:spPr>
      </p:sp>
      <p:sp>
        <p:nvSpPr>
          <p:cNvPr id="7" name="Shape 5"/>
          <p:cNvSpPr/>
          <p:nvPr/>
        </p:nvSpPr>
        <p:spPr>
          <a:xfrm>
            <a:off x="11384280" y="2788920"/>
            <a:ext cx="137160" cy="1325880"/>
          </a:xfrm>
          <a:prstGeom prst="line">
            <a:avLst/>
          </a:prstGeom>
          <a:noFill/>
          <a:ln w="9525">
            <a:solidFill>
              <a:srgbClr val="9AA4B2">
                <a:alpha val="38000"/>
              </a:srgbClr>
            </a:solidFill>
            <a:prstDash val="solid"/>
          </a:ln>
        </p:spPr>
      </p:sp>
      <p:sp>
        <p:nvSpPr>
          <p:cNvPr id="8" name="Shape 6"/>
          <p:cNvSpPr/>
          <p:nvPr/>
        </p:nvSpPr>
        <p:spPr>
          <a:xfrm>
            <a:off x="10104120" y="3337560"/>
            <a:ext cx="1417320" cy="777240"/>
          </a:xfrm>
          <a:prstGeom prst="line">
            <a:avLst/>
          </a:prstGeom>
          <a:noFill/>
          <a:ln w="9525">
            <a:solidFill>
              <a:srgbClr val="9AA4B2">
                <a:alpha val="38000"/>
              </a:srgbClr>
            </a:solidFill>
            <a:prstDash val="solid"/>
          </a:ln>
        </p:spPr>
      </p:sp>
      <p:sp>
        <p:nvSpPr>
          <p:cNvPr id="9" name="Shape 7"/>
          <p:cNvSpPr/>
          <p:nvPr/>
        </p:nvSpPr>
        <p:spPr>
          <a:xfrm flipV="1">
            <a:off x="9921240" y="3337560"/>
            <a:ext cx="182880" cy="1417320"/>
          </a:xfrm>
          <a:prstGeom prst="line">
            <a:avLst/>
          </a:prstGeom>
          <a:noFill/>
          <a:ln w="9525">
            <a:solidFill>
              <a:srgbClr val="9AA4B2">
                <a:alpha val="38000"/>
              </a:srgbClr>
            </a:solidFill>
            <a:prstDash val="solid"/>
          </a:ln>
        </p:spPr>
      </p:sp>
      <p:sp>
        <p:nvSpPr>
          <p:cNvPr id="10" name="Shape 8"/>
          <p:cNvSpPr/>
          <p:nvPr/>
        </p:nvSpPr>
        <p:spPr>
          <a:xfrm>
            <a:off x="8732520" y="4206240"/>
            <a:ext cx="1188720" cy="548640"/>
          </a:xfrm>
          <a:prstGeom prst="line">
            <a:avLst/>
          </a:prstGeom>
          <a:noFill/>
          <a:ln w="9525">
            <a:solidFill>
              <a:srgbClr val="9AA4B2">
                <a:alpha val="38000"/>
              </a:srgbClr>
            </a:solidFill>
            <a:prstDash val="solid"/>
          </a:ln>
        </p:spPr>
      </p:sp>
      <p:sp>
        <p:nvSpPr>
          <p:cNvPr id="11" name="Shape 9"/>
          <p:cNvSpPr/>
          <p:nvPr/>
        </p:nvSpPr>
        <p:spPr>
          <a:xfrm>
            <a:off x="9921240" y="4754880"/>
            <a:ext cx="1097280" cy="411480"/>
          </a:xfrm>
          <a:prstGeom prst="line">
            <a:avLst/>
          </a:prstGeom>
          <a:noFill/>
          <a:ln w="9525">
            <a:solidFill>
              <a:srgbClr val="9AA4B2">
                <a:alpha val="38000"/>
              </a:srgbClr>
            </a:solidFill>
            <a:prstDash val="solid"/>
          </a:ln>
        </p:spPr>
      </p:sp>
      <p:sp>
        <p:nvSpPr>
          <p:cNvPr id="12" name="Shape 10"/>
          <p:cNvSpPr/>
          <p:nvPr/>
        </p:nvSpPr>
        <p:spPr>
          <a:xfrm>
            <a:off x="8229600" y="2971800"/>
            <a:ext cx="502920" cy="1234440"/>
          </a:xfrm>
          <a:prstGeom prst="line">
            <a:avLst/>
          </a:prstGeom>
          <a:noFill/>
          <a:ln w="9525">
            <a:solidFill>
              <a:srgbClr val="9AA4B2">
                <a:alpha val="38000"/>
              </a:srgbClr>
            </a:solidFill>
            <a:prstDash val="solid"/>
          </a:ln>
        </p:spPr>
      </p:sp>
      <p:sp>
        <p:nvSpPr>
          <p:cNvPr id="13" name="Shape 11"/>
          <p:cNvSpPr/>
          <p:nvPr/>
        </p:nvSpPr>
        <p:spPr>
          <a:xfrm flipV="1">
            <a:off x="8549640" y="4754880"/>
            <a:ext cx="1371600" cy="731520"/>
          </a:xfrm>
          <a:prstGeom prst="line">
            <a:avLst/>
          </a:prstGeom>
          <a:noFill/>
          <a:ln w="9525">
            <a:solidFill>
              <a:srgbClr val="9AA4B2">
                <a:alpha val="38000"/>
              </a:srgbClr>
            </a:solidFill>
            <a:prstDash val="solid"/>
          </a:ln>
        </p:spPr>
      </p:sp>
      <p:sp>
        <p:nvSpPr>
          <p:cNvPr id="14" name="Shape 12"/>
          <p:cNvSpPr/>
          <p:nvPr/>
        </p:nvSpPr>
        <p:spPr>
          <a:xfrm>
            <a:off x="8298180" y="1165860"/>
            <a:ext cx="137160" cy="137160"/>
          </a:xfrm>
          <a:prstGeom prst="ellipse">
            <a:avLst/>
          </a:prstGeom>
          <a:solidFill>
            <a:srgbClr val="E4A64C">
              <a:alpha val="65000"/>
            </a:srgbClr>
          </a:solidFill>
          <a:ln/>
        </p:spPr>
      </p:sp>
      <p:sp>
        <p:nvSpPr>
          <p:cNvPr id="15" name="Shape 13"/>
          <p:cNvSpPr/>
          <p:nvPr/>
        </p:nvSpPr>
        <p:spPr>
          <a:xfrm>
            <a:off x="9688068" y="818388"/>
            <a:ext cx="100584" cy="100584"/>
          </a:xfrm>
          <a:prstGeom prst="ellipse">
            <a:avLst/>
          </a:prstGeom>
          <a:solidFill>
            <a:srgbClr val="9AA4B2">
              <a:alpha val="50000"/>
            </a:srgbClr>
          </a:solidFill>
          <a:ln/>
        </p:spPr>
      </p:sp>
      <p:sp>
        <p:nvSpPr>
          <p:cNvPr id="16" name="Shape 14"/>
          <p:cNvSpPr/>
          <p:nvPr/>
        </p:nvSpPr>
        <p:spPr>
          <a:xfrm>
            <a:off x="10876788" y="1549908"/>
            <a:ext cx="100584" cy="100584"/>
          </a:xfrm>
          <a:prstGeom prst="ellipse">
            <a:avLst/>
          </a:prstGeom>
          <a:solidFill>
            <a:srgbClr val="9AA4B2">
              <a:alpha val="50000"/>
            </a:srgbClr>
          </a:solidFill>
          <a:ln/>
        </p:spPr>
      </p:sp>
      <p:sp>
        <p:nvSpPr>
          <p:cNvPr id="17" name="Shape 15"/>
          <p:cNvSpPr/>
          <p:nvPr/>
        </p:nvSpPr>
        <p:spPr>
          <a:xfrm>
            <a:off x="9212580" y="2171700"/>
            <a:ext cx="137160" cy="137160"/>
          </a:xfrm>
          <a:prstGeom prst="ellipse">
            <a:avLst/>
          </a:prstGeom>
          <a:solidFill>
            <a:srgbClr val="E4A64C">
              <a:alpha val="65000"/>
            </a:srgbClr>
          </a:solidFill>
          <a:ln/>
        </p:spPr>
      </p:sp>
      <p:sp>
        <p:nvSpPr>
          <p:cNvPr id="18" name="Shape 16"/>
          <p:cNvSpPr/>
          <p:nvPr/>
        </p:nvSpPr>
        <p:spPr>
          <a:xfrm>
            <a:off x="11333988" y="2738628"/>
            <a:ext cx="100584" cy="100584"/>
          </a:xfrm>
          <a:prstGeom prst="ellipse">
            <a:avLst/>
          </a:prstGeom>
          <a:solidFill>
            <a:srgbClr val="9AA4B2">
              <a:alpha val="50000"/>
            </a:srgbClr>
          </a:solidFill>
          <a:ln/>
        </p:spPr>
      </p:sp>
      <p:sp>
        <p:nvSpPr>
          <p:cNvPr id="19" name="Shape 17"/>
          <p:cNvSpPr/>
          <p:nvPr/>
        </p:nvSpPr>
        <p:spPr>
          <a:xfrm>
            <a:off x="8179308" y="2921508"/>
            <a:ext cx="100584" cy="100584"/>
          </a:xfrm>
          <a:prstGeom prst="ellipse">
            <a:avLst/>
          </a:prstGeom>
          <a:solidFill>
            <a:srgbClr val="9AA4B2">
              <a:alpha val="50000"/>
            </a:srgbClr>
          </a:solidFill>
          <a:ln/>
        </p:spPr>
      </p:sp>
      <p:sp>
        <p:nvSpPr>
          <p:cNvPr id="20" name="Shape 18"/>
          <p:cNvSpPr/>
          <p:nvPr/>
        </p:nvSpPr>
        <p:spPr>
          <a:xfrm>
            <a:off x="10035540" y="3268980"/>
            <a:ext cx="137160" cy="137160"/>
          </a:xfrm>
          <a:prstGeom prst="ellipse">
            <a:avLst/>
          </a:prstGeom>
          <a:solidFill>
            <a:srgbClr val="E4A64C">
              <a:alpha val="65000"/>
            </a:srgbClr>
          </a:solidFill>
          <a:ln/>
        </p:spPr>
      </p:sp>
      <p:sp>
        <p:nvSpPr>
          <p:cNvPr id="21" name="Shape 19"/>
          <p:cNvSpPr/>
          <p:nvPr/>
        </p:nvSpPr>
        <p:spPr>
          <a:xfrm>
            <a:off x="11471148" y="4064508"/>
            <a:ext cx="100584" cy="100584"/>
          </a:xfrm>
          <a:prstGeom prst="ellipse">
            <a:avLst/>
          </a:prstGeom>
          <a:solidFill>
            <a:srgbClr val="9AA4B2">
              <a:alpha val="50000"/>
            </a:srgbClr>
          </a:solidFill>
          <a:ln/>
        </p:spPr>
      </p:sp>
      <p:sp>
        <p:nvSpPr>
          <p:cNvPr id="22" name="Shape 20"/>
          <p:cNvSpPr/>
          <p:nvPr/>
        </p:nvSpPr>
        <p:spPr>
          <a:xfrm>
            <a:off x="8682228" y="4155948"/>
            <a:ext cx="100584" cy="100584"/>
          </a:xfrm>
          <a:prstGeom prst="ellipse">
            <a:avLst/>
          </a:prstGeom>
          <a:solidFill>
            <a:srgbClr val="9AA4B2">
              <a:alpha val="50000"/>
            </a:srgbClr>
          </a:solidFill>
          <a:ln/>
        </p:spPr>
      </p:sp>
      <p:sp>
        <p:nvSpPr>
          <p:cNvPr id="23" name="Shape 21"/>
          <p:cNvSpPr/>
          <p:nvPr/>
        </p:nvSpPr>
        <p:spPr>
          <a:xfrm>
            <a:off x="9852660" y="4686300"/>
            <a:ext cx="137160" cy="137160"/>
          </a:xfrm>
          <a:prstGeom prst="ellipse">
            <a:avLst/>
          </a:prstGeom>
          <a:solidFill>
            <a:srgbClr val="E4A64C">
              <a:alpha val="65000"/>
            </a:srgbClr>
          </a:solidFill>
          <a:ln/>
        </p:spPr>
      </p:sp>
      <p:sp>
        <p:nvSpPr>
          <p:cNvPr id="24" name="Shape 22"/>
          <p:cNvSpPr/>
          <p:nvPr/>
        </p:nvSpPr>
        <p:spPr>
          <a:xfrm>
            <a:off x="10968228" y="5116068"/>
            <a:ext cx="100584" cy="100584"/>
          </a:xfrm>
          <a:prstGeom prst="ellipse">
            <a:avLst/>
          </a:prstGeom>
          <a:solidFill>
            <a:srgbClr val="9AA4B2">
              <a:alpha val="50000"/>
            </a:srgbClr>
          </a:solidFill>
          <a:ln/>
        </p:spPr>
      </p:sp>
      <p:sp>
        <p:nvSpPr>
          <p:cNvPr id="25" name="Shape 23"/>
          <p:cNvSpPr/>
          <p:nvPr/>
        </p:nvSpPr>
        <p:spPr>
          <a:xfrm>
            <a:off x="8499348" y="5436108"/>
            <a:ext cx="100584" cy="100584"/>
          </a:xfrm>
          <a:prstGeom prst="ellipse">
            <a:avLst/>
          </a:prstGeom>
          <a:solidFill>
            <a:srgbClr val="9AA4B2">
              <a:alpha val="50000"/>
            </a:srgbClr>
          </a:solidFill>
          <a:ln/>
        </p:spPr>
      </p:sp>
      <p:sp>
        <p:nvSpPr>
          <p:cNvPr id="26" name="Text 24"/>
          <p:cNvSpPr/>
          <p:nvPr/>
        </p:nvSpPr>
        <p:spPr>
          <a:xfrm>
            <a:off x="640080" y="1188720"/>
            <a:ext cx="10911535" cy="274320"/>
          </a:xfrm>
          <a:prstGeom prst="rect">
            <a:avLst/>
          </a:prstGeom>
          <a:noFill/>
          <a:ln/>
        </p:spPr>
        <p:txBody>
          <a:bodyPr wrap="square" lIns="0" tIns="0" rIns="0" bIns="0" rtlCol="0" anchor="ctr"/>
          <a:lstStyle/>
          <a:p>
            <a:pPr algn="l" indent="0" marL="0">
              <a:buNone/>
            </a:pPr>
            <a:r>
              <a:rPr lang="en-US" sz="1150" b="1" spc="300" kern="0" dirty="0">
                <a:solidFill>
                  <a:srgbClr val="E4A64C"/>
                </a:solidFill>
                <a:latin typeface="Courier New" pitchFamily="34" charset="0"/>
                <a:ea typeface="Courier New" pitchFamily="34" charset="-122"/>
                <a:cs typeface="Courier New" pitchFamily="34" charset="-120"/>
              </a:rPr>
              <a:t>THE BOTTOM LINE</a:t>
            </a:r>
            <a:endParaRPr lang="en-US" sz="1150" dirty="0"/>
          </a:p>
        </p:txBody>
      </p:sp>
      <p:sp>
        <p:nvSpPr>
          <p:cNvPr id="27" name="Text 25"/>
          <p:cNvSpPr/>
          <p:nvPr/>
        </p:nvSpPr>
        <p:spPr>
          <a:xfrm>
            <a:off x="640080" y="1691640"/>
            <a:ext cx="8778240" cy="1828800"/>
          </a:xfrm>
          <a:prstGeom prst="rect">
            <a:avLst/>
          </a:prstGeom>
          <a:noFill/>
          <a:ln/>
        </p:spPr>
        <p:txBody>
          <a:bodyPr wrap="square" lIns="0" tIns="0" rIns="0" bIns="0" rtlCol="0" anchor="ctr"/>
          <a:lstStyle/>
          <a:p>
            <a:pPr indent="0" marL="0">
              <a:lnSpc>
                <a:spcPct val="106000"/>
              </a:lnSpc>
              <a:buNone/>
            </a:pPr>
            <a:r>
              <a:rPr lang="en-US" sz="4000" b="1" dirty="0">
                <a:solidFill>
                  <a:srgbClr val="FFFFFF"/>
                </a:solidFill>
                <a:latin typeface="Arial" pitchFamily="34" charset="0"/>
                <a:ea typeface="Arial" pitchFamily="34" charset="-122"/>
                <a:cs typeface="Arial" pitchFamily="34" charset="-120"/>
              </a:rPr>
              <a:t>From keyword search to a conversation that converts.</a:t>
            </a:r>
            <a:endParaRPr lang="en-US" sz="4000" dirty="0"/>
          </a:p>
        </p:txBody>
      </p:sp>
      <p:sp>
        <p:nvSpPr>
          <p:cNvPr id="28" name="Text 26"/>
          <p:cNvSpPr/>
          <p:nvPr/>
        </p:nvSpPr>
        <p:spPr>
          <a:xfrm>
            <a:off x="640080" y="3794760"/>
            <a:ext cx="10058400" cy="548640"/>
          </a:xfrm>
          <a:prstGeom prst="rect">
            <a:avLst/>
          </a:prstGeom>
          <a:noFill/>
          <a:ln/>
        </p:spPr>
        <p:txBody>
          <a:bodyPr wrap="square" lIns="0" tIns="0" rIns="0" bIns="0" rtlCol="0" anchor="ctr"/>
          <a:lstStyle/>
          <a:p>
            <a:pPr indent="0" marL="0">
              <a:buNone/>
            </a:pPr>
            <a:r>
              <a:rPr lang="en-US" sz="2000" b="1" dirty="0">
                <a:solidFill>
                  <a:srgbClr val="E4A64C"/>
                </a:solidFill>
                <a:latin typeface="Arial" pitchFamily="34" charset="0"/>
                <a:ea typeface="Arial" pitchFamily="34" charset="-122"/>
                <a:cs typeface="Arial" pitchFamily="34" charset="-120"/>
              </a:rPr>
              <a:t>Grounded.  </a:t>
            </a:r>
            <a:pPr indent="0" marL="0">
              <a:buNone/>
            </a:pPr>
            <a:r>
              <a:rPr lang="en-US" sz="2000" b="1" dirty="0">
                <a:solidFill>
                  <a:srgbClr val="E4A64C"/>
                </a:solidFill>
                <a:latin typeface="Arial" pitchFamily="34" charset="0"/>
                <a:ea typeface="Arial" pitchFamily="34" charset="-122"/>
                <a:cs typeface="Arial" pitchFamily="34" charset="-120"/>
              </a:rPr>
              <a:t>Honest.  </a:t>
            </a:r>
            <a:pPr indent="0" marL="0">
              <a:buNone/>
            </a:pPr>
            <a:r>
              <a:rPr lang="en-US" sz="2000" b="1" dirty="0">
                <a:solidFill>
                  <a:srgbClr val="E4A64C"/>
                </a:solidFill>
                <a:latin typeface="Arial" pitchFamily="34" charset="0"/>
                <a:ea typeface="Arial" pitchFamily="34" charset="-122"/>
                <a:cs typeface="Arial" pitchFamily="34" charset="-120"/>
              </a:rPr>
              <a:t>Already running.  </a:t>
            </a:r>
            <a:pPr indent="0" marL="0">
              <a:buNone/>
            </a:pPr>
            <a:r>
              <a:rPr lang="en-US" sz="2000" b="1" dirty="0">
                <a:solidFill>
                  <a:srgbClr val="E4A64C"/>
                </a:solidFill>
                <a:latin typeface="Arial" pitchFamily="34" charset="0"/>
                <a:ea typeface="Arial" pitchFamily="34" charset="-122"/>
                <a:cs typeface="Arial" pitchFamily="34" charset="-120"/>
              </a:rPr>
              <a:t>Ready to grow.</a:t>
            </a:r>
            <a:endParaRPr lang="en-US" sz="2000" dirty="0"/>
          </a:p>
        </p:txBody>
      </p:sp>
      <p:sp>
        <p:nvSpPr>
          <p:cNvPr id="29" name="Text 27"/>
          <p:cNvSpPr/>
          <p:nvPr/>
        </p:nvSpPr>
        <p:spPr>
          <a:xfrm>
            <a:off x="640080" y="4572000"/>
            <a:ext cx="8595360" cy="1188720"/>
          </a:xfrm>
          <a:prstGeom prst="rect">
            <a:avLst/>
          </a:prstGeom>
          <a:noFill/>
          <a:ln/>
        </p:spPr>
        <p:txBody>
          <a:bodyPr wrap="square" lIns="0" tIns="0" rIns="0" bIns="0" rtlCol="0" anchor="ctr"/>
          <a:lstStyle/>
          <a:p>
            <a:pPr indent="0" marL="0">
              <a:lnSpc>
                <a:spcPct val="122000"/>
              </a:lnSpc>
              <a:buNone/>
            </a:pPr>
            <a:r>
              <a:rPr lang="en-US" sz="1500" dirty="0">
                <a:solidFill>
                  <a:srgbClr val="C7CED8"/>
                </a:solidFill>
                <a:latin typeface="Calibri" pitchFamily="34" charset="0"/>
                <a:ea typeface="Calibri" pitchFamily="34" charset="-122"/>
                <a:cs typeface="Calibri" pitchFamily="34" charset="-120"/>
              </a:rPr>
              <a:t>The insight is simple: make the AI read the catalog before it speaks. Everything else — the guardrail, the split stores, the change-detection sync — is how we turn that insight into something a business can trust.</a:t>
            </a:r>
            <a:endParaRPr lang="en-US" sz="1500" dirty="0"/>
          </a:p>
        </p:txBody>
      </p:sp>
      <p:sp>
        <p:nvSpPr>
          <p:cNvPr id="30" name="Text 28"/>
          <p:cNvSpPr/>
          <p:nvPr/>
        </p:nvSpPr>
        <p:spPr>
          <a:xfrm>
            <a:off x="640080" y="5989320"/>
            <a:ext cx="4572000" cy="365760"/>
          </a:xfrm>
          <a:prstGeom prst="rect">
            <a:avLst/>
          </a:prstGeom>
          <a:noFill/>
          <a:ln/>
        </p:spPr>
        <p:txBody>
          <a:bodyPr wrap="square" lIns="0" tIns="0" rIns="0" bIns="0" rtlCol="0" anchor="ctr"/>
          <a:lstStyle/>
          <a:p>
            <a:pPr indent="0" marL="0">
              <a:buNone/>
            </a:pPr>
            <a:r>
              <a:rPr lang="en-US" sz="1200" spc="200" kern="0" dirty="0">
                <a:solidFill>
                  <a:srgbClr val="9AA4B2"/>
                </a:solidFill>
                <a:latin typeface="Courier New" pitchFamily="34" charset="0"/>
                <a:ea typeface="Courier New" pitchFamily="34" charset="-122"/>
                <a:cs typeface="Courier New" pitchFamily="34" charset="-120"/>
              </a:rPr>
              <a:t>Thank you.</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ProductChat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ProductChat — Presentation &amp; Defense</dc:title>
  <dc:subject>PptxGenJS Presentation</dc:subject>
  <dc:creator>ProductChat</dc:creator>
  <cp:lastModifiedBy>ProductChat</cp:lastModifiedBy>
  <cp:revision>1</cp:revision>
  <dcterms:created xsi:type="dcterms:W3CDTF">2026-08-03T08:18:58Z</dcterms:created>
  <dcterms:modified xsi:type="dcterms:W3CDTF">2026-08-03T08:18:58Z</dcterms:modified>
</cp:coreProperties>
</file>